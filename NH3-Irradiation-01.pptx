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7" r:id="rId4"/>
    <p:sldId id="260" r:id="rId5"/>
    <p:sldId id="257" r:id="rId6"/>
    <p:sldId id="266" r:id="rId7"/>
    <p:sldId id="264" r:id="rId8"/>
    <p:sldId id="268" r:id="rId9"/>
    <p:sldId id="270" r:id="rId10"/>
    <p:sldId id="272" r:id="rId11"/>
    <p:sldId id="273" r:id="rId12"/>
    <p:sldId id="274" r:id="rId13"/>
    <p:sldId id="269" r:id="rId14"/>
    <p:sldId id="27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01"/>
    <p:restoredTop sz="94691"/>
  </p:normalViewPr>
  <p:slideViewPr>
    <p:cSldViewPr snapToGrid="0">
      <p:cViewPr varScale="1">
        <p:scale>
          <a:sx n="213" d="100"/>
          <a:sy n="213" d="100"/>
        </p:scale>
        <p:origin x="1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isportal.jlab.org/sti/publications/17690/attachments/6259/ckeith_PSTP20223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EED8-C455-813E-18C6-4D9CEF575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0428" y="1871131"/>
            <a:ext cx="7538484" cy="1515533"/>
          </a:xfrm>
        </p:spPr>
        <p:txBody>
          <a:bodyPr/>
          <a:lstStyle/>
          <a:p>
            <a:r>
              <a:rPr lang="en-US" sz="3200" dirty="0"/>
              <a:t>Optimizing Radical Evolution: TOPAS Simulations for High-Intensity Polarized Targets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116BB-F378-DE96-AF6F-BFB7408A6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TOPAS Monte Carlo Simulation - Geant4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A2108-CE6A-6D4A-56FB-13396CAA054C}"/>
              </a:ext>
            </a:extLst>
          </p:cNvPr>
          <p:cNvSpPr txBox="1"/>
          <p:nvPr/>
        </p:nvSpPr>
        <p:spPr>
          <a:xfrm>
            <a:off x="2877362" y="4609067"/>
            <a:ext cx="608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Samuel Takwirira, Karl Slifer, PhD – UNH Nuclear Physis Group</a:t>
            </a:r>
          </a:p>
        </p:txBody>
      </p:sp>
    </p:spTree>
    <p:extLst>
      <p:ext uri="{BB962C8B-B14F-4D97-AF65-F5344CB8AC3E}">
        <p14:creationId xmlns:p14="http://schemas.microsoft.com/office/powerpoint/2010/main" val="1672255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20AD-00F6-98DC-370F-46D34DBF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Physics of Radiolytic Depletion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FE658-4535-3FE8-0BD9-FA1318F178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Target Material:</a:t>
                </a:r>
                <a:r>
                  <a:rPr lang="en-US" dirty="0"/>
                  <a:t> Frozen ammonia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–</m:t>
                    </m:r>
                  </m:oMath>
                </a14:m>
                <a:r>
                  <a:rPr lang="en-US" dirty="0"/>
                  <a:t> Deuterated Ammonia</a:t>
                </a:r>
              </a:p>
              <a:p>
                <a:r>
                  <a:rPr lang="en-US" b="1" dirty="0"/>
                  <a:t>The Radical Paradox:</a:t>
                </a:r>
                <a:endParaRPr lang="en-US" dirty="0"/>
              </a:p>
              <a:p>
                <a:pPr lvl="1"/>
                <a:r>
                  <a:rPr lang="en-US" b="1" dirty="0"/>
                  <a:t>Creation:</a:t>
                </a:r>
                <a:r>
                  <a:rPr lang="en-US" dirty="0"/>
                  <a:t> High-energy electron beams create paramagnetic centers (radicals) necessary for Dynamic Nuclear Polarization (DNP).</a:t>
                </a:r>
              </a:p>
              <a:p>
                <a:pPr lvl="1"/>
                <a:r>
                  <a:rPr lang="en-US" b="1" dirty="0"/>
                  <a:t>Depletion:</a:t>
                </a:r>
                <a:r>
                  <a:rPr lang="en-US" dirty="0"/>
                  <a:t> Excessive local energy deposition (over-irradiation) causes "</a:t>
                </a:r>
                <a:r>
                  <a:rPr lang="en-US" dirty="0">
                    <a:solidFill>
                      <a:srgbClr val="00B050"/>
                    </a:solidFill>
                  </a:rPr>
                  <a:t>radio</a:t>
                </a:r>
                <a:r>
                  <a:rPr lang="en-US" dirty="0">
                    <a:solidFill>
                      <a:srgbClr val="FF0000"/>
                    </a:solidFill>
                  </a:rPr>
                  <a:t>lysis</a:t>
                </a:r>
                <a:r>
                  <a:rPr lang="en-US" dirty="0"/>
                  <a:t>," where existing radicals are destroyed or recombined into non-paramagnetic species.</a:t>
                </a:r>
              </a:p>
              <a:p>
                <a:r>
                  <a:rPr lang="en-US" b="1" dirty="0"/>
                  <a:t>The Ultimate Goal:</a:t>
                </a:r>
                <a:r>
                  <a:rPr lang="en-US" dirty="0"/>
                  <a:t> Maintain the optimal radical concentration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) typically in the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𝟏𝟗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𝟐𝟎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𝒔𝒑𝒊𝒏𝒔</m:t>
                        </m:r>
                      </m:num>
                      <m:den>
                        <m:sSup>
                          <m:sSup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𝒄𝒎</m:t>
                            </m:r>
                          </m:e>
                          <m:sup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Immediate Goal</a:t>
                </a:r>
                <a:r>
                  <a:rPr lang="en-US" dirty="0"/>
                  <a:t>: Achieve Uniform Dose distribution across the target volume</a:t>
                </a: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FE658-4535-3FE8-0BD9-FA1318F178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4" t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07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5966-99C7-D2D1-F0ED-BADB76F2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Uniform Dose is Critical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825AE-CFED-3723-DEAE-0F1A02220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Polarization Gradient:</a:t>
                </a:r>
                <a:r>
                  <a:rPr lang="en-US" dirty="0"/>
                  <a:t> DNP enhancement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a function of radical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US" dirty="0"/>
                  <a:t> If the beam creates a "hot spot," that region over-depletes, dropping the local polarization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Thermal Management:</a:t>
                </a:r>
                <a:r>
                  <a:rPr lang="en-US" dirty="0"/>
                  <a:t> Non-uniform dosing leads to local heating, which exponentially increases the nuclear spin-lattice relaxation rate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), effectively "killing" the polarization.</a:t>
                </a:r>
              </a:p>
              <a:p>
                <a:r>
                  <a:rPr lang="en-US" dirty="0"/>
                  <a:t>Even a few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𝑚𝐾</m:t>
                    </m:r>
                  </m:oMath>
                </a14:m>
                <a:r>
                  <a:rPr lang="en-US" dirty="0"/>
                  <a:t> of local heating can significantly shorten the nuclear relaxation time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), causing a massive drop in steady-state polarization.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0825AE-CFED-3723-DEAE-0F1A02220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817" r="-1720" b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235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D692-7F7C-638C-0B91-C57CFFF6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 Up</a:t>
            </a:r>
          </a:p>
        </p:txBody>
      </p:sp>
      <p:pic>
        <p:nvPicPr>
          <p:cNvPr id="5" name="Content Placeholder 4" descr="A diagram of a machine&#10;&#10;AI-generated content may be incorrect.">
            <a:extLst>
              <a:ext uri="{FF2B5EF4-FFF2-40B4-BE49-F238E27FC236}">
                <a16:creationId xmlns:a16="http://schemas.microsoft.com/office/drawing/2014/main" id="{A66B2BEF-5C64-9A36-098C-243FDDDE7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405" y="2557993"/>
            <a:ext cx="6647684" cy="3317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12C93E-B2DC-B621-9535-F8AC29E59840}"/>
              </a:ext>
            </a:extLst>
          </p:cNvPr>
          <p:cNvSpPr txBox="1"/>
          <p:nvPr/>
        </p:nvSpPr>
        <p:spPr>
          <a:xfrm>
            <a:off x="8204375" y="5044871"/>
            <a:ext cx="3033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3"/>
              </a:rPr>
              <a:t>First Use of a Longitudinally Polarized Target with CLAS12 C.D. Keith, J. Brock, C. Carlin, T. </a:t>
            </a:r>
            <a:r>
              <a:rPr lang="en-US" sz="1200" i="1" dirty="0" err="1">
                <a:hlinkClick r:id="rId3"/>
              </a:rPr>
              <a:t>Kageya</a:t>
            </a:r>
            <a:r>
              <a:rPr lang="en-US" sz="1200" i="1" dirty="0">
                <a:hlinkClick r:id="rId3"/>
              </a:rPr>
              <a:t> V. Lagerquist, J. Maxwell, and P. Pandey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03079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020C-7A7A-7F65-F7FC-5573023C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 &amp; Tools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2777AF-A6E0-BADB-4DA4-999846097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TOPAS Monte Carlo – </a:t>
                </a:r>
                <a:r>
                  <a:rPr lang="en-US" u="sng" dirty="0">
                    <a:solidFill>
                      <a:srgbClr val="0070C0"/>
                    </a:solidFill>
                  </a:rPr>
                  <a:t>TO</a:t>
                </a:r>
                <a:r>
                  <a:rPr lang="en-US" dirty="0"/>
                  <a:t>ol for </a:t>
                </a:r>
                <a:r>
                  <a:rPr lang="en-US" u="sng" dirty="0">
                    <a:solidFill>
                      <a:srgbClr val="0070C0"/>
                    </a:solidFill>
                  </a:rPr>
                  <a:t>PA</a:t>
                </a:r>
                <a:r>
                  <a:rPr lang="en-US" dirty="0"/>
                  <a:t>rticle </a:t>
                </a:r>
                <a:r>
                  <a:rPr lang="en-US" u="sng" dirty="0">
                    <a:solidFill>
                      <a:srgbClr val="0070C0"/>
                    </a:solidFill>
                  </a:rPr>
                  <a:t>S</a:t>
                </a:r>
                <a:r>
                  <a:rPr lang="en-US" dirty="0"/>
                  <a:t>imulation.</a:t>
                </a:r>
              </a:p>
              <a:p>
                <a:pPr lvl="1"/>
                <a:r>
                  <a:rPr lang="en-US" sz="2400" dirty="0"/>
                  <a:t>Originated in the Medical Physics community – Used for Treatment Planning Systems (TPS) in Radiation Oncology Research</a:t>
                </a:r>
              </a:p>
              <a:p>
                <a:pPr lvl="1"/>
                <a:r>
                  <a:rPr lang="en-US" sz="24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“g4em-standard_opt4”</a:t>
                </a:r>
                <a:r>
                  <a:rPr lang="en-US" sz="2400" dirty="0"/>
                  <a:t> Physics Module</a:t>
                </a:r>
              </a:p>
              <a:p>
                <a:pPr lvl="1"/>
                <a:r>
                  <a:rPr lang="en-US" sz="2400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“DoseToMedium”</a:t>
                </a:r>
                <a:r>
                  <a:rPr lang="en-US" sz="2400" dirty="0"/>
                  <a:t> Scorer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i:So/ElectronSource/NumberOfHistoriesInRun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days to run!!!</a:t>
                </a:r>
                <a:r>
                  <a:rPr lang="en-US" sz="2400" dirty="0"/>
                  <a:t>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2777AF-A6E0-BADB-4DA4-999846097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896047-DFE5-E0BA-9732-580BCF2A7E05}"/>
              </a:ext>
            </a:extLst>
          </p:cNvPr>
          <p:cNvSpPr txBox="1"/>
          <p:nvPr/>
        </p:nvSpPr>
        <p:spPr>
          <a:xfrm>
            <a:off x="4614041" y="18077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91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234ED5-FE69-EA1D-D1D5-793C49C737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295402" y="982132"/>
                <a:ext cx="9601196" cy="130386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262626"/>
                    </a:solidFill>
                  </a:rPr>
                  <a:t>Irradiation Method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solidFill>
                      <a:srgbClr val="262626"/>
                    </a:solidFill>
                  </a:rPr>
                  <a:t>Rotation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rgbClr val="262626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E234ED5-FE69-EA1D-D1D5-793C49C737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95402" y="982132"/>
                <a:ext cx="9601196" cy="1303867"/>
              </a:xfrm>
              <a:blipFill>
                <a:blip r:embed="rId3"/>
                <a:stretch>
                  <a:fillRect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Cylinder with solid fill">
            <a:extLst>
              <a:ext uri="{FF2B5EF4-FFF2-40B4-BE49-F238E27FC236}">
                <a16:creationId xmlns:a16="http://schemas.microsoft.com/office/drawing/2014/main" id="{2B44BB8D-BB02-1E34-3B94-CD6623786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434269" y="2757636"/>
            <a:ext cx="2739728" cy="2739728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879B72-9AF9-AF75-C927-077868BCD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39732" y="2556932"/>
                <a:ext cx="6256863" cy="3318936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262626"/>
                    </a:solidFill>
                  </a:rPr>
                  <a:t>Define a cylinder on the interval z ∈ [0, L] with radius R. </a:t>
                </a:r>
              </a:p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sz="1900" dirty="0">
                  <a:solidFill>
                    <a:srgbClr val="262626"/>
                  </a:solidFill>
                </a:endParaRPr>
              </a:p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262626"/>
                    </a:solidFill>
                  </a:rPr>
                  <a:t>Dose from a source located at z = 0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9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900" b="1" dirty="0">
                    <a:solidFill>
                      <a:srgbClr val="00B050"/>
                    </a:solidFill>
                  </a:rPr>
                  <a:t> = f (r, </a:t>
                </a:r>
                <a:r>
                  <a:rPr lang="el-GR" sz="1900" b="1" dirty="0">
                    <a:solidFill>
                      <a:srgbClr val="00B050"/>
                    </a:solidFill>
                  </a:rPr>
                  <a:t>θ, </a:t>
                </a:r>
                <a:r>
                  <a:rPr lang="en-US" sz="1900" b="1" dirty="0">
                    <a:solidFill>
                      <a:srgbClr val="00B050"/>
                    </a:solidFill>
                  </a:rPr>
                  <a:t>z)</a:t>
                </a:r>
              </a:p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sz="1900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262626"/>
                    </a:solidFill>
                  </a:rPr>
                  <a:t>Irradiation from z = L 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US" sz="1900" dirty="0">
                    <a:solidFill>
                      <a:srgbClr val="262626"/>
                    </a:solidFill>
                  </a:rPr>
                  <a:t>reflection across the mid-plane</a:t>
                </a:r>
              </a:p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sz="1900" dirty="0">
                  <a:solidFill>
                    <a:srgbClr val="262626"/>
                  </a:solidFill>
                </a:endParaRPr>
              </a:p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262626"/>
                    </a:solidFill>
                  </a:rPr>
                  <a:t>The second dose is defined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9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900" b="1" dirty="0">
                    <a:solidFill>
                      <a:srgbClr val="7030A0"/>
                    </a:solidFill>
                  </a:rPr>
                  <a:t>(r, </a:t>
                </a:r>
                <a:r>
                  <a:rPr lang="el-GR" sz="1900" b="1" dirty="0">
                    <a:solidFill>
                      <a:srgbClr val="7030A0"/>
                    </a:solidFill>
                  </a:rPr>
                  <a:t>θ, </a:t>
                </a:r>
                <a:r>
                  <a:rPr lang="en-US" sz="1900" b="1" dirty="0">
                    <a:solidFill>
                      <a:srgbClr val="7030A0"/>
                    </a:solidFill>
                  </a:rPr>
                  <a:t>z)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9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900" b="1" dirty="0">
                    <a:solidFill>
                      <a:srgbClr val="7030A0"/>
                    </a:solidFill>
                  </a:rPr>
                  <a:t>(r, </a:t>
                </a:r>
                <a:r>
                  <a:rPr lang="el-GR" sz="1900" b="1" dirty="0">
                    <a:solidFill>
                      <a:srgbClr val="7030A0"/>
                    </a:solidFill>
                  </a:rPr>
                  <a:t>θ, </a:t>
                </a:r>
                <a:r>
                  <a:rPr lang="en-US" sz="1900" b="1" dirty="0">
                    <a:solidFill>
                      <a:srgbClr val="7030A0"/>
                    </a:solidFill>
                  </a:rPr>
                  <a:t>L − z)</a:t>
                </a:r>
              </a:p>
              <a:p>
                <a:pPr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sz="1900" b="1" dirty="0">
                  <a:solidFill>
                    <a:srgbClr val="262626"/>
                  </a:solidFill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900" dirty="0">
                    <a:solidFill>
                      <a:srgbClr val="262626"/>
                    </a:solidFill>
                  </a:rPr>
                  <a:t>The total dose is 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sz="1900" b="1" dirty="0">
                    <a:solidFill>
                      <a:srgbClr val="C00000"/>
                    </a:solidFill>
                  </a:rPr>
                  <a:t>(r, </a:t>
                </a:r>
                <a:r>
                  <a:rPr lang="el-GR" sz="1900" b="1" dirty="0">
                    <a:solidFill>
                      <a:srgbClr val="C00000"/>
                    </a:solidFill>
                  </a:rPr>
                  <a:t>θ, </a:t>
                </a:r>
                <a:r>
                  <a:rPr lang="en-US" sz="1900" b="1" dirty="0">
                    <a:solidFill>
                      <a:srgbClr val="C00000"/>
                    </a:solidFill>
                  </a:rPr>
                  <a:t>z)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9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900" b="1" dirty="0">
                    <a:solidFill>
                      <a:srgbClr val="C00000"/>
                    </a:solidFill>
                  </a:rPr>
                  <a:t>(r, </a:t>
                </a:r>
                <a:r>
                  <a:rPr lang="el-GR" sz="1900" b="1" dirty="0">
                    <a:solidFill>
                      <a:srgbClr val="C00000"/>
                    </a:solidFill>
                  </a:rPr>
                  <a:t>θ, </a:t>
                </a:r>
                <a:r>
                  <a:rPr lang="en-US" sz="1900" b="1" dirty="0">
                    <a:solidFill>
                      <a:srgbClr val="C00000"/>
                    </a:solidFill>
                  </a:rPr>
                  <a:t>z)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19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900" b="1" dirty="0">
                    <a:solidFill>
                      <a:srgbClr val="C00000"/>
                    </a:solidFill>
                  </a:rPr>
                  <a:t>(r, </a:t>
                </a:r>
                <a:r>
                  <a:rPr lang="el-GR" sz="1900" b="1" dirty="0">
                    <a:solidFill>
                      <a:srgbClr val="C00000"/>
                    </a:solidFill>
                  </a:rPr>
                  <a:t>θ, </a:t>
                </a:r>
                <a:r>
                  <a:rPr lang="en-US" sz="1900" b="1" dirty="0">
                    <a:solidFill>
                      <a:srgbClr val="C00000"/>
                    </a:solidFill>
                  </a:rPr>
                  <a:t>L − z)</a:t>
                </a:r>
              </a:p>
              <a:p>
                <a:pPr>
                  <a:lnSpc>
                    <a:spcPct val="90000"/>
                  </a:lnSpc>
                </a:pPr>
                <a:endParaRPr lang="en-US" sz="1900" dirty="0">
                  <a:solidFill>
                    <a:srgbClr val="262626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879B72-9AF9-AF75-C927-077868BCD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39732" y="2556932"/>
                <a:ext cx="6256863" cy="3318936"/>
              </a:xfrm>
              <a:blipFill>
                <a:blip r:embed="rId6"/>
                <a:stretch>
                  <a:fillRect l="-1014" t="-3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CDD9C2-E9FC-8F9C-FC44-CF5E4F42D274}"/>
              </a:ext>
            </a:extLst>
          </p:cNvPr>
          <p:cNvCxnSpPr>
            <a:cxnSpLocks/>
          </p:cNvCxnSpPr>
          <p:nvPr/>
        </p:nvCxnSpPr>
        <p:spPr>
          <a:xfrm flipH="1">
            <a:off x="3659385" y="3973961"/>
            <a:ext cx="514613" cy="0"/>
          </a:xfrm>
          <a:prstGeom prst="straightConnector1">
            <a:avLst/>
          </a:prstGeom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7EBCE7-2C4A-98F7-4E83-0C5DDA87702D}"/>
              </a:ext>
            </a:extLst>
          </p:cNvPr>
          <p:cNvCxnSpPr>
            <a:cxnSpLocks/>
          </p:cNvCxnSpPr>
          <p:nvPr/>
        </p:nvCxnSpPr>
        <p:spPr>
          <a:xfrm flipH="1">
            <a:off x="3678303" y="4145280"/>
            <a:ext cx="495695" cy="0"/>
          </a:xfrm>
          <a:prstGeom prst="straightConnector1">
            <a:avLst/>
          </a:prstGeom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E88FD0-19A1-BECB-A832-D1FAED10E4C4}"/>
              </a:ext>
            </a:extLst>
          </p:cNvPr>
          <p:cNvCxnSpPr>
            <a:cxnSpLocks/>
          </p:cNvCxnSpPr>
          <p:nvPr/>
        </p:nvCxnSpPr>
        <p:spPr>
          <a:xfrm flipH="1">
            <a:off x="3678303" y="4297680"/>
            <a:ext cx="495695" cy="0"/>
          </a:xfrm>
          <a:prstGeom prst="straightConnector1">
            <a:avLst/>
          </a:prstGeom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6" name="Picture 35" descr="A purple letter and number&#10;&#10;AI-generated content may be incorrect.">
            <a:extLst>
              <a:ext uri="{FF2B5EF4-FFF2-40B4-BE49-F238E27FC236}">
                <a16:creationId xmlns:a16="http://schemas.microsoft.com/office/drawing/2014/main" id="{0A65B202-BFCA-8C65-305F-65E2B990E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7277" y="3589947"/>
            <a:ext cx="286721" cy="36391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7FB4BC-5429-2514-D8D9-31C90EA07133}"/>
              </a:ext>
            </a:extLst>
          </p:cNvPr>
          <p:cNvCxnSpPr>
            <a:cxnSpLocks/>
          </p:cNvCxnSpPr>
          <p:nvPr/>
        </p:nvCxnSpPr>
        <p:spPr>
          <a:xfrm>
            <a:off x="1434269" y="4144229"/>
            <a:ext cx="706296" cy="0"/>
          </a:xfrm>
          <a:prstGeom prst="straightConnector1">
            <a:avLst/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7148D7-A981-34C7-E4EA-7A07FC284CE0}"/>
              </a:ext>
            </a:extLst>
          </p:cNvPr>
          <p:cNvCxnSpPr>
            <a:cxnSpLocks/>
          </p:cNvCxnSpPr>
          <p:nvPr/>
        </p:nvCxnSpPr>
        <p:spPr>
          <a:xfrm>
            <a:off x="1434269" y="4296629"/>
            <a:ext cx="706296" cy="0"/>
          </a:xfrm>
          <a:prstGeom prst="straightConnector1">
            <a:avLst/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8" name="Picture 37" descr="A green letter and number&#10;&#10;AI-generated content may be incorrect.">
            <a:extLst>
              <a:ext uri="{FF2B5EF4-FFF2-40B4-BE49-F238E27FC236}">
                <a16:creationId xmlns:a16="http://schemas.microsoft.com/office/drawing/2014/main" id="{EC3CB344-CE17-3344-0A79-57DEC7AB02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4269" y="3608992"/>
            <a:ext cx="286722" cy="363917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04905C5-71AA-B2EE-2C6E-C89F81389C5E}"/>
              </a:ext>
            </a:extLst>
          </p:cNvPr>
          <p:cNvCxnSpPr>
            <a:cxnSpLocks/>
          </p:cNvCxnSpPr>
          <p:nvPr/>
        </p:nvCxnSpPr>
        <p:spPr>
          <a:xfrm>
            <a:off x="1434269" y="3987624"/>
            <a:ext cx="706296" cy="0"/>
          </a:xfrm>
          <a:prstGeom prst="straightConnector1">
            <a:avLst/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A53F57F-151E-FF58-8935-93A80C48AC76}"/>
              </a:ext>
            </a:extLst>
          </p:cNvPr>
          <p:cNvSpPr txBox="1"/>
          <p:nvPr/>
        </p:nvSpPr>
        <p:spPr>
          <a:xfrm>
            <a:off x="3421657" y="506467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z=L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C2B11A-96A8-A054-D370-FA8B6F244254}"/>
              </a:ext>
            </a:extLst>
          </p:cNvPr>
          <p:cNvCxnSpPr/>
          <p:nvPr/>
        </p:nvCxnSpPr>
        <p:spPr>
          <a:xfrm flipH="1">
            <a:off x="2762119" y="3127879"/>
            <a:ext cx="56755" cy="2005373"/>
          </a:xfrm>
          <a:prstGeom prst="line">
            <a:avLst/>
          </a:prstGeom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741A231-A993-0720-AFDD-65B47A913A0F}"/>
              </a:ext>
            </a:extLst>
          </p:cNvPr>
          <p:cNvCxnSpPr>
            <a:cxnSpLocks/>
          </p:cNvCxnSpPr>
          <p:nvPr/>
        </p:nvCxnSpPr>
        <p:spPr>
          <a:xfrm flipV="1">
            <a:off x="1763663" y="5118291"/>
            <a:ext cx="1871968" cy="149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4059175-84D6-B497-5C9B-5C971F9BCBEE}"/>
              </a:ext>
            </a:extLst>
          </p:cNvPr>
          <p:cNvSpPr txBox="1"/>
          <p:nvPr/>
        </p:nvSpPr>
        <p:spPr>
          <a:xfrm>
            <a:off x="1498350" y="512803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z=0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FF42292-9226-E350-3401-C01E5AAB37EE}"/>
              </a:ext>
            </a:extLst>
          </p:cNvPr>
          <p:cNvCxnSpPr/>
          <p:nvPr/>
        </p:nvCxnSpPr>
        <p:spPr>
          <a:xfrm flipH="1">
            <a:off x="1720991" y="4144229"/>
            <a:ext cx="1957312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C5BE57-5F1C-5771-328F-09BD199C0D1A}"/>
              </a:ext>
            </a:extLst>
          </p:cNvPr>
          <p:cNvGrpSpPr/>
          <p:nvPr/>
        </p:nvGrpSpPr>
        <p:grpSpPr>
          <a:xfrm>
            <a:off x="3439054" y="4144229"/>
            <a:ext cx="328936" cy="860464"/>
            <a:chOff x="3439054" y="4144229"/>
            <a:chExt cx="328936" cy="860464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DCBEC51-3C75-499A-49A3-E7B2D808E14C}"/>
                </a:ext>
              </a:extLst>
            </p:cNvPr>
            <p:cNvCxnSpPr/>
            <p:nvPr/>
          </p:nvCxnSpPr>
          <p:spPr>
            <a:xfrm>
              <a:off x="3499945" y="4144229"/>
              <a:ext cx="0" cy="860464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8B6DA30-8742-5FD5-B1FF-072D0B8C2719}"/>
                </a:ext>
              </a:extLst>
            </p:cNvPr>
            <p:cNvSpPr txBox="1"/>
            <p:nvPr/>
          </p:nvSpPr>
          <p:spPr>
            <a:xfrm>
              <a:off x="3439054" y="426940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R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9917B62-0C6C-2E6E-14C4-FEC3BD3D321D}"/>
              </a:ext>
            </a:extLst>
          </p:cNvPr>
          <p:cNvSpPr txBox="1"/>
          <p:nvPr/>
        </p:nvSpPr>
        <p:spPr>
          <a:xfrm>
            <a:off x="2152986" y="2757497"/>
            <a:ext cx="1331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Mirror Plane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91B869-36C1-4EF0-F26A-3E26BA8F9F4E}"/>
              </a:ext>
            </a:extLst>
          </p:cNvPr>
          <p:cNvSpPr txBox="1"/>
          <p:nvPr/>
        </p:nvSpPr>
        <p:spPr>
          <a:xfrm>
            <a:off x="1412590" y="19233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1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C59E-9455-7F7D-4927-01A9245F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the Lab Set Up </a:t>
            </a:r>
          </a:p>
        </p:txBody>
      </p:sp>
      <p:pic>
        <p:nvPicPr>
          <p:cNvPr id="10" name="Content Placeholder 9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73691650-8AD8-9879-2EB2-C0823A83A5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8948" y="2426941"/>
            <a:ext cx="5105887" cy="3742631"/>
          </a:xfrm>
          <a:prstGeom prst="rect">
            <a:avLst/>
          </a:prstGeom>
        </p:spPr>
      </p:pic>
      <p:pic>
        <p:nvPicPr>
          <p:cNvPr id="14" name="Content Placeholder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F218816-CAEA-97D9-BFFA-236D59A944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03824" y="2565931"/>
            <a:ext cx="4171221" cy="33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7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E1A1-A957-E2E9-DAB6-17515B23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The TOPAS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2FE5E-9F5E-C423-1AAF-E6855BCAE3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2556931"/>
                <a:ext cx="9982199" cy="3628715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CSV files (.csv)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Format for most Scorers (Dose, Fluence, e.t.c)</a:t>
                </a:r>
              </a:p>
              <a:p>
                <a:r>
                  <a:rPr lang="en-US" dirty="0"/>
                  <a:t>Binary files (.bin)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High-speed, large-scale data storage for Phase Space</a:t>
                </a:r>
              </a:p>
              <a:p>
                <a:r>
                  <a:rPr lang="en-US" dirty="0"/>
                  <a:t>ROOT files (.root)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Native format for the CERN ROOT framework</a:t>
                </a:r>
              </a:p>
              <a:p>
                <a:r>
                  <a:rPr lang="en-US" dirty="0"/>
                  <a:t>DICOM files (.dcm)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Exporting dose distributions into clinical systems</a:t>
                </a:r>
              </a:p>
              <a:p>
                <a:r>
                  <a:rPr lang="en-US" dirty="0"/>
                  <a:t>Graphic/Visual Outputs 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Includes OpenGL (GUI)</a:t>
                </a:r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VRML (.wrl), Digital Asset Exchange files (.dae), PDF/PostScript, XML for specialized geometry exports/parameter logging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2FE5E-9F5E-C423-1AAF-E6855BCAE3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2556931"/>
                <a:ext cx="9982199" cy="3628715"/>
              </a:xfrm>
              <a:blipFill>
                <a:blip r:embed="rId2"/>
                <a:stretch>
                  <a:fillRect l="-1144" t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37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3C97-20C1-B6D7-490A-946F6D0B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in the CSV File?</a:t>
            </a:r>
          </a:p>
        </p:txBody>
      </p:sp>
      <p:pic>
        <p:nvPicPr>
          <p:cNvPr id="5" name="Content Placeholder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92783CE3-CAE4-40F9-B19F-6CFCFDA51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8004" y="2565773"/>
            <a:ext cx="4788949" cy="3198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316E2-F7D9-47B2-549A-C7D616C22920}"/>
                  </a:ext>
                </a:extLst>
              </p:cNvPr>
              <p:cNvSpPr txBox="1"/>
              <p:nvPr/>
            </p:nvSpPr>
            <p:spPr>
              <a:xfrm>
                <a:off x="1385047" y="2565773"/>
                <a:ext cx="4710953" cy="3604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Shows Absorbed Dose vs. Depth into the material (z-axis):</a:t>
                </a:r>
              </a:p>
              <a:p>
                <a:endParaRPr lang="en-US" dirty="0"/>
              </a:p>
              <a:p>
                <a:r>
                  <a:rPr lang="en-US" sz="2800" b="0" dirty="0">
                    <a:solidFill>
                      <a:schemeClr val="accent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ρV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sz="2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US" sz="280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Where: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	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Absorbed Dose [Gy</a:t>
                </a:r>
                <a:r>
                  <a:rPr lang="en-US" dirty="0"/>
                  <a:t>=</a:t>
                </a:r>
                <a:r>
                  <a:rPr lang="en-US" dirty="0">
                    <a:solidFill>
                      <a:schemeClr val="tx1"/>
                    </a:solidFill>
                  </a:rPr>
                  <a:t> Jkg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-1</a:t>
                </a:r>
                <a:r>
                  <a:rPr lang="en-US" dirty="0">
                    <a:solidFill>
                      <a:schemeClr val="tx1"/>
                    </a:solidFill>
                  </a:rPr>
                  <a:t>]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lang="el-G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 Individual energy deposit from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𝑡h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particle interaction [J]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dirty="0">
                    <a:solidFill>
                      <a:schemeClr val="tx1"/>
                    </a:solidFill>
                  </a:rPr>
                  <a:t> = </a:t>
                </a:r>
                <a:r>
                  <a:rPr lang="en-US" dirty="0">
                    <a:solidFill>
                      <a:schemeClr val="tx1"/>
                    </a:solidFill>
                  </a:rPr>
                  <a:t>Density of the target material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= Volume of the scoring voxel [m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3</a:t>
                </a:r>
                <a:r>
                  <a:rPr lang="en-US" dirty="0">
                    <a:solidFill>
                      <a:schemeClr val="tx1"/>
                    </a:solidFill>
                  </a:rPr>
                  <a:t>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316E2-F7D9-47B2-549A-C7D616C22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047" y="2565773"/>
                <a:ext cx="4710953" cy="3604577"/>
              </a:xfrm>
              <a:prstGeom prst="rect">
                <a:avLst/>
              </a:prstGeom>
              <a:blipFill>
                <a:blip r:embed="rId3"/>
                <a:stretch>
                  <a:fillRect l="-804" t="-1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8BD0261-C136-8FD4-3C90-36B3D24D2193}"/>
              </a:ext>
            </a:extLst>
          </p:cNvPr>
          <p:cNvSpPr/>
          <p:nvPr/>
        </p:nvSpPr>
        <p:spPr>
          <a:xfrm>
            <a:off x="9232287" y="4546775"/>
            <a:ext cx="1059443" cy="1217098"/>
          </a:xfrm>
          <a:prstGeom prst="rect">
            <a:avLst/>
          </a:prstGeom>
          <a:gradFill>
            <a:gsLst>
              <a:gs pos="0">
                <a:srgbClr val="00B050">
                  <a:alpha val="0"/>
                </a:srgbClr>
              </a:gs>
              <a:gs pos="87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4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D2A2-119A-D486-1533-E864E785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Chemical Yield (the G-Value)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6C929-7BE7-A6D2-27E4-3DB6963DA5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 relate energy to chemical change, we use the G-value, defined as the number of radicals produced per 100 eV of absorbed energy:</a:t>
                </a:r>
              </a:p>
              <a:p>
                <a:endParaRPr lang="en-US" dirty="0"/>
              </a:p>
              <a:p>
                <a:pPr marL="914400" lvl="2" indent="0" algn="ctr">
                  <a:buNone/>
                </a:pPr>
                <a:r>
                  <a:rPr lang="en-US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Number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Radicals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100 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eV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Absorbed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Energy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 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6C929-7BE7-A6D2-27E4-3DB6963DA5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 t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20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EE67-C627-3585-D869-D7CB82CB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Unit Conversion Constant (k)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1FDC7-983C-7971-1210-8B771CAE5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in Joules/kilogram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is desired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𝒔𝒑𝒊𝒏𝒔</m:t>
                        </m:r>
                      </m:num>
                      <m:den>
                        <m:sSup>
                          <m:sSup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𝒄𝒎</m:t>
                            </m:r>
                          </m:e>
                          <m:sup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we define a conversion constant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(or its inverse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r>
                  <a:rPr lang="en-US" dirty="0"/>
                  <a:t> ) to align the units: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1.602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−17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6.242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1FDC7-983C-7971-1210-8B771CAE5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65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8C83D9-5CDA-F694-5266-D2220C5E8FB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Final Radical Density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8C83D9-5CDA-F694-5266-D2220C5E8F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DCE8A-68C0-B008-2AC5-6D8F7614AB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9601196" cy="36787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Combining the TOPAS dose, the material density, and the G-value, the final radical density is calculated</a:t>
                </a:r>
              </a:p>
              <a:p>
                <a:r>
                  <a:rPr lang="en-US" dirty="0"/>
                  <a:t>as:</a:t>
                </a:r>
              </a:p>
              <a:p>
                <a:pPr marL="3200400" lvl="7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(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·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l-GR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dirty="0"/>
                  <a:t>In practical units,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is in g/cm</a:t>
                </a:r>
                <a:r>
                  <a:rPr lang="en-US" baseline="30000" dirty="0"/>
                  <a:t>3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in Gray)</a:t>
                </a:r>
              </a:p>
              <a:p>
                <a:pPr marL="0" indent="0">
                  <a:buNone/>
                </a:pPr>
                <a:r>
                  <a:rPr lang="en-US" dirty="0"/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≈ (6.242 × 10</a:t>
                </a:r>
                <a:r>
                  <a:rPr lang="en-US" baseline="30000" dirty="0"/>
                  <a:t>13</a:t>
                </a:r>
                <a:r>
                  <a:rPr lang="en-US" dirty="0"/>
                  <a:t>) · G · D ·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𝒔𝒑𝒊𝒏𝒔</m:t>
                        </m:r>
                      </m:num>
                      <m:den>
                        <m:sSup>
                          <m:sSup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𝒄𝒎</m:t>
                            </m:r>
                          </m:e>
                          <m:sup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DCE8A-68C0-B008-2AC5-6D8F7614A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9601196" cy="3678768"/>
              </a:xfrm>
              <a:blipFill>
                <a:blip r:embed="rId3"/>
                <a:stretch>
                  <a:fillRect l="-1190" t="-2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081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4306-ACFB-5D08-B6EE-A92BC4CF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and Acronyms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3EADE-B70A-9BDF-0AF2-C0100D8B1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DICOM: Digital Imaging and Communications in Medicine</a:t>
            </a:r>
          </a:p>
          <a:p>
            <a:r>
              <a:rPr lang="en-US" dirty="0"/>
              <a:t>DNP: Dynamic Nuclear Polarization</a:t>
            </a:r>
          </a:p>
          <a:p>
            <a:r>
              <a:rPr lang="en-US" dirty="0"/>
              <a:t>TOPAS: Tool for Particle Simulation (Monte Carlo – Geant 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739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DF1E-CC8C-8ACF-79B9-0837244C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B304A-6AC9-6C7D-6933-356F65F9A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b="1" dirty="0"/>
              <a:t>Framework:</a:t>
            </a:r>
            <a:r>
              <a:rPr lang="en-US" dirty="0"/>
              <a:t> Perl J, et al. </a:t>
            </a:r>
            <a:r>
              <a:rPr lang="en-US" i="1" dirty="0"/>
              <a:t>TOPAS: An innovative proton therapy simulation framework.</a:t>
            </a:r>
            <a:r>
              <a:rPr lang="en-US" dirty="0"/>
              <a:t> Med Phys. 2012;39(11):6818-35.</a:t>
            </a:r>
          </a:p>
          <a:p>
            <a:pPr lvl="0"/>
            <a:r>
              <a:rPr lang="en-US" b="1" dirty="0"/>
              <a:t>Radical Physics:</a:t>
            </a:r>
            <a:r>
              <a:rPr lang="en-US" dirty="0"/>
              <a:t> Crabb DG, Meyer W. </a:t>
            </a:r>
            <a:r>
              <a:rPr lang="en-US" i="1" dirty="0"/>
              <a:t>Solid Polarized Targets for Nuclear and Particle Physics.</a:t>
            </a:r>
            <a:r>
              <a:rPr lang="en-US" dirty="0"/>
              <a:t> Annu. Rev. Nucl. Part. Sci. 1997. 47:67-109.</a:t>
            </a:r>
          </a:p>
          <a:p>
            <a:pPr lvl="0"/>
            <a:r>
              <a:rPr lang="en-US" b="1" dirty="0"/>
              <a:t>Radiolysis Modeling:</a:t>
            </a:r>
            <a:r>
              <a:rPr lang="en-US" dirty="0"/>
              <a:t> Ramos-Méndez J, et al. </a:t>
            </a:r>
            <a:r>
              <a:rPr lang="en-US" i="1" dirty="0"/>
              <a:t>TOPAS-nBio: An extension to the TOPAS simulation toolkit for cellular and sub-cellular radiobiology.</a:t>
            </a:r>
            <a:r>
              <a:rPr lang="en-US" dirty="0"/>
              <a:t> Phys Med Biol. 2019.</a:t>
            </a:r>
          </a:p>
          <a:p>
            <a:pPr lvl="0"/>
            <a:r>
              <a:rPr lang="en-US" b="1" dirty="0"/>
              <a:t>Target Kinetics:</a:t>
            </a:r>
            <a:r>
              <a:rPr lang="en-US" dirty="0"/>
              <a:t> London GW, et al. </a:t>
            </a:r>
            <a:r>
              <a:rPr lang="en-US" i="1" dirty="0"/>
              <a:t>Radiation damage in polarized target materials.</a:t>
            </a:r>
            <a:r>
              <a:rPr lang="en-US" dirty="0"/>
              <a:t> NIM A. 1994.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77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7437-C7CD-549E-EB0E-34B644EA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60968"/>
          </a:xfrm>
        </p:spPr>
        <p:txBody>
          <a:bodyPr/>
          <a:lstStyle/>
          <a:p>
            <a:r>
              <a:rPr lang="en-US" dirty="0"/>
              <a:t>806 Research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12BF8-0751-9D12-C41A-FE946E02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Poster presentation (3/13—2:10-3PM) based on what you know and remember from what you have learned. </a:t>
            </a:r>
          </a:p>
          <a:p>
            <a:r>
              <a:rPr lang="en-US" dirty="0"/>
              <a:t>Maker Space to print the poster by Friday morning at the latest –somewhere in Kingsbury – Mention it is for a class so that I don’t have to pay.</a:t>
            </a:r>
          </a:p>
          <a:p>
            <a:r>
              <a:rPr lang="en-US" dirty="0"/>
              <a:t> GRC Presentations – register by 3/16 – 4/13 (Oral) and 4/15 (Poster)</a:t>
            </a:r>
          </a:p>
          <a:p>
            <a:r>
              <a:rPr lang="en-US" dirty="0"/>
              <a:t>End of April/Early May – Last Day of Class</a:t>
            </a:r>
          </a:p>
          <a:p>
            <a:r>
              <a:rPr lang="en-US" dirty="0"/>
              <a:t>Proposal – Written: Due at the end of finals (Pages Max)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5524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2637</TotalTime>
  <Words>1007</Words>
  <Application>Microsoft Macintosh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Courier New</vt:lpstr>
      <vt:lpstr>Garamond</vt:lpstr>
      <vt:lpstr>Organic</vt:lpstr>
      <vt:lpstr>Optimizing Radical Evolution: TOPAS Simulations for High-Intensity Polarized Targets</vt:lpstr>
      <vt:lpstr>The Physics of Radiolytic Depletion</vt:lpstr>
      <vt:lpstr>Why Uniform Dose is Critical</vt:lpstr>
      <vt:lpstr>Experimental Set Up</vt:lpstr>
      <vt:lpstr>Methods &amp; Tools</vt:lpstr>
      <vt:lpstr>Irradiation Method -Rotation by π </vt:lpstr>
      <vt:lpstr>Modeling the Lab Set Up </vt:lpstr>
      <vt:lpstr> The TOPAS Outputs</vt:lpstr>
      <vt:lpstr>What is in the CSV File?</vt:lpstr>
      <vt:lpstr>The Chemical Yield (the G-Value)</vt:lpstr>
      <vt:lpstr>The Unit Conversion Constant (k)</vt:lpstr>
      <vt:lpstr>Final Radical Density (N_s)</vt:lpstr>
      <vt:lpstr>Definitions and Acronyms</vt:lpstr>
      <vt:lpstr>Sources Cited</vt:lpstr>
      <vt:lpstr>806 Research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Takwirira</dc:creator>
  <cp:lastModifiedBy>Samuel Takwirira</cp:lastModifiedBy>
  <cp:revision>38</cp:revision>
  <dcterms:created xsi:type="dcterms:W3CDTF">2026-03-05T19:14:58Z</dcterms:created>
  <dcterms:modified xsi:type="dcterms:W3CDTF">2026-03-07T17:14:48Z</dcterms:modified>
</cp:coreProperties>
</file>