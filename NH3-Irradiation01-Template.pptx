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43891200" cy="32918400"/>
  <p:notesSz cx="7077075" cy="936307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4300" b="1" kern="1200">
        <a:solidFill>
          <a:srgbClr val="FF9900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4300" b="1" kern="1200">
        <a:solidFill>
          <a:srgbClr val="FF9900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4300" b="1" kern="1200">
        <a:solidFill>
          <a:srgbClr val="FF9900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4300" b="1" kern="1200">
        <a:solidFill>
          <a:srgbClr val="FF9900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5552">
          <p15:clr>
            <a:srgbClr val="A4A3A4"/>
          </p15:clr>
        </p15:guide>
        <p15:guide id="3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6A"/>
    <a:srgbClr val="CCECFF"/>
    <a:srgbClr val="0033CC"/>
    <a:srgbClr val="000066"/>
    <a:srgbClr val="CCCCCC"/>
    <a:srgbClr val="999999"/>
    <a:srgbClr val="FF9900"/>
    <a:srgbClr val="990000"/>
    <a:srgbClr val="000050"/>
    <a:srgbClr val="000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386" autoAdjust="0"/>
    <p:restoredTop sz="94564" autoAdjust="0"/>
  </p:normalViewPr>
  <p:slideViewPr>
    <p:cSldViewPr>
      <p:cViewPr varScale="1">
        <p:scale>
          <a:sx n="25" d="100"/>
          <a:sy n="25" d="100"/>
        </p:scale>
        <p:origin x="2400" y="224"/>
      </p:cViewPr>
      <p:guideLst>
        <p:guide orient="horz" pos="10368"/>
        <p:guide pos="15552"/>
        <p:guide pos="1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8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t" anchorCtr="0" compatLnSpc="1">
            <a:prstTxWarp prst="textNoShape">
              <a:avLst/>
            </a:prstTxWarp>
          </a:bodyPr>
          <a:lstStyle>
            <a:lvl1pPr algn="l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08727" y="1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t" anchorCtr="0" compatLnSpc="1">
            <a:prstTxWarp prst="textNoShape">
              <a:avLst/>
            </a:prstTxWarp>
          </a:bodyPr>
          <a:lstStyle>
            <a:lvl1pPr algn="r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93313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b" anchorCtr="0" compatLnSpc="1">
            <a:prstTxWarp prst="textNoShape">
              <a:avLst/>
            </a:prstTxWarp>
          </a:bodyPr>
          <a:lstStyle>
            <a:lvl1pPr algn="l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08727" y="8893313"/>
            <a:ext cx="3066733" cy="46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22" tIns="47161" rIns="94322" bIns="47161" numCol="1" anchor="b" anchorCtr="0" compatLnSpc="1">
            <a:prstTxWarp prst="textNoShape">
              <a:avLst/>
            </a:prstTxWarp>
          </a:bodyPr>
          <a:lstStyle>
            <a:lvl1pPr algn="r" defTabSz="942804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BDCE5CEB-6363-420F-BE45-85B064B891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26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E7C82-5B16-8040-8FD3-FB5ABC635C3D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05325"/>
            <a:ext cx="5661025" cy="36877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175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893175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B1780-5414-B742-B36F-87135CBB5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97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B1780-5414-B742-B36F-87135CBB54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9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7" y="10226675"/>
            <a:ext cx="37306250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4" y="18653125"/>
            <a:ext cx="30724474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5278E-ED96-461A-883E-5FD94BC35A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2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D8D97-1826-4078-ADDA-4E99B734A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1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43"/>
            <a:ext cx="37307838" cy="65373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73675-D381-4E0E-B86F-9F9EFE0572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41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28" y="7680325"/>
            <a:ext cx="19675474" cy="21726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3" y="7680325"/>
            <a:ext cx="19675474" cy="21726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8DAF2-D655-47B3-A184-648194FE7E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80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8"/>
            <a:ext cx="19392901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1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8"/>
            <a:ext cx="19400837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7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F92EC-8C3C-4F10-858C-C66E68A9EC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5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AEDA9-9C5F-4252-8D07-E5D3174E99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1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FBADD-EE0D-4AEE-A966-D1DAD5921D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66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4" y="1311275"/>
            <a:ext cx="14439901" cy="55768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4" y="1311275"/>
            <a:ext cx="24536400" cy="28093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4" y="6888163"/>
            <a:ext cx="14439901" cy="22517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56635-F299-487E-8478-361B2D7E66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45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5" y="23042568"/>
            <a:ext cx="26335037" cy="2720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5" y="2941638"/>
            <a:ext cx="26335037" cy="197500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5" y="25763543"/>
            <a:ext cx="26335037" cy="3862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18BA4C-6842-4480-8686-9E83B0824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9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5C329-9094-49E3-ADB9-7C70C8CFFD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6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40" y="1317625"/>
            <a:ext cx="9875837" cy="28089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5" y="1317625"/>
            <a:ext cx="29475113" cy="28089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BC182-0EAC-4479-8D18-C53192F402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77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193927" y="1317625"/>
            <a:ext cx="39503350" cy="5486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93928" y="7680326"/>
            <a:ext cx="19675474" cy="10787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2021803" y="7680326"/>
            <a:ext cx="19675474" cy="10787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193928" y="18619788"/>
            <a:ext cx="19675474" cy="10787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021803" y="18619788"/>
            <a:ext cx="19675474" cy="10787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E7164-4707-4A19-A6AB-6533AC9FA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5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A9A9"/>
            </a:gs>
            <a:gs pos="50000">
              <a:srgbClr val="990000"/>
            </a:gs>
            <a:gs pos="100000">
              <a:srgbClr val="DDA9A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4279" y="1317625"/>
            <a:ext cx="39502645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4279" y="7680325"/>
            <a:ext cx="39502645" cy="2172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4279" y="29978350"/>
            <a:ext cx="1024184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t" anchorCtr="0" compatLnSpc="1">
            <a:prstTxWarp prst="textNoShape">
              <a:avLst/>
            </a:prstTxWarp>
          </a:bodyPr>
          <a:lstStyle>
            <a:lvl1pPr algn="l"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5879" y="29978350"/>
            <a:ext cx="1389944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t" anchorCtr="0" compatLnSpc="1">
            <a:prstTxWarp prst="textNoShape">
              <a:avLst/>
            </a:prstTxWarp>
          </a:bodyPr>
          <a:lstStyle>
            <a:lvl1pPr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5079" y="29978350"/>
            <a:ext cx="1024184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numCol="1" anchor="t" anchorCtr="0" compatLnSpc="1">
            <a:prstTxWarp prst="textNoShape">
              <a:avLst/>
            </a:prstTxWarp>
          </a:bodyPr>
          <a:lstStyle>
            <a:lvl1pPr algn="r"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5D3B0B1D-8805-4920-9608-A1D4D0B3DD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2pPr>
      <a:lvl3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3pPr>
      <a:lvl4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4pPr>
      <a:lvl5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5pPr>
      <a:lvl6pPr marL="4572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6pPr>
      <a:lvl7pPr marL="9144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7pPr>
      <a:lvl8pPr marL="13716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8pPr>
      <a:lvl9pPr marL="18288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9pPr>
    </p:titleStyle>
    <p:bodyStyle>
      <a:lvl1pPr marL="1409700" indent="-1409700" algn="l" defTabSz="3762375" rtl="0" eaLnBrk="0" fontAlgn="base" hangingPunct="0">
        <a:spcBef>
          <a:spcPct val="20000"/>
        </a:spcBef>
        <a:spcAft>
          <a:spcPct val="0"/>
        </a:spcAft>
        <a:buChar char="•"/>
        <a:defRPr sz="13200">
          <a:solidFill>
            <a:schemeClr val="tx1"/>
          </a:solidFill>
          <a:latin typeface="+mn-lt"/>
          <a:ea typeface="+mn-ea"/>
          <a:cs typeface="+mn-cs"/>
        </a:defRPr>
      </a:lvl1pPr>
      <a:lvl2pPr marL="3057525" indent="-1176338" algn="l" defTabSz="3762375" rtl="0" eaLnBrk="0" fontAlgn="base" hangingPunct="0">
        <a:spcBef>
          <a:spcPct val="20000"/>
        </a:spcBef>
        <a:spcAft>
          <a:spcPct val="0"/>
        </a:spcAft>
        <a:buChar char="–"/>
        <a:defRPr sz="11500">
          <a:solidFill>
            <a:schemeClr val="tx1"/>
          </a:solidFill>
          <a:latin typeface="+mn-lt"/>
        </a:defRPr>
      </a:lvl2pPr>
      <a:lvl3pPr marL="4702175" indent="-939800" algn="l" defTabSz="3762375" rtl="0" eaLnBrk="0" fontAlgn="base" hangingPunct="0">
        <a:spcBef>
          <a:spcPct val="20000"/>
        </a:spcBef>
        <a:spcAft>
          <a:spcPct val="0"/>
        </a:spcAft>
        <a:buChar char="•"/>
        <a:defRPr sz="9900">
          <a:solidFill>
            <a:schemeClr val="tx1"/>
          </a:solidFill>
          <a:latin typeface="+mn-lt"/>
        </a:defRPr>
      </a:lvl3pPr>
      <a:lvl4pPr marL="6583363" indent="-939800" algn="l" defTabSz="3762375" rtl="0" eaLnBrk="0" fontAlgn="base" hangingPunct="0">
        <a:spcBef>
          <a:spcPct val="20000"/>
        </a:spcBef>
        <a:spcAft>
          <a:spcPct val="0"/>
        </a:spcAft>
        <a:buChar char="–"/>
        <a:defRPr sz="8200">
          <a:solidFill>
            <a:schemeClr val="tx1"/>
          </a:solidFill>
          <a:latin typeface="+mn-lt"/>
        </a:defRPr>
      </a:lvl4pPr>
      <a:lvl5pPr marL="8466138" indent="-941388" algn="l" defTabSz="3762375" rtl="0" eaLnBrk="0" fontAlgn="base" hangingPunct="0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5pPr>
      <a:lvl6pPr marL="89233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6pPr>
      <a:lvl7pPr marL="93805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7pPr>
      <a:lvl8pPr marL="98377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8pPr>
      <a:lvl9pPr marL="102949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hyperlink" Target="mailto:Karl.Slifer@unh.edu" TargetMode="External"/><Relationship Id="rId10" Type="http://schemas.openxmlformats.org/officeDocument/2006/relationships/image" Target="../media/image6.png"/><Relationship Id="rId4" Type="http://schemas.openxmlformats.org/officeDocument/2006/relationships/hyperlink" Target="mailto:Samuel.Takwirira@unh.edu" TargetMode="Externa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0" y="1"/>
            <a:ext cx="43891200" cy="5486399"/>
          </a:xfr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indent="-457200" algn="l" eaLnBrk="1" hangingPunct="1">
              <a:spcBef>
                <a:spcPts val="0"/>
              </a:spcBef>
              <a:spcAft>
                <a:spcPts val="0"/>
              </a:spcAft>
            </a:pPr>
            <a:r>
              <a:rPr lang="en-US" sz="8800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 pitchFamily="2" charset="0"/>
              </a:rPr>
              <a:t>Optimizing Radical Evolution for Polarized Targets in DNP</a:t>
            </a:r>
            <a:br>
              <a:rPr lang="en-US" sz="8800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 pitchFamily="2" charset="0"/>
              </a:rPr>
            </a:br>
            <a:r>
              <a:rPr lang="en-US" sz="8800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 pitchFamily="2" charset="0"/>
              </a:rPr>
              <a:t>TOPAS Geant4 – Monte Carlo Simulation</a:t>
            </a:r>
            <a:br>
              <a:rPr lang="en-US" sz="9600" dirty="0">
                <a:latin typeface="Helvetica" pitchFamily="2" charset="0"/>
              </a:rPr>
            </a:br>
            <a:br>
              <a:rPr lang="en-US" sz="4000" dirty="0">
                <a:latin typeface="Helvetica" pitchFamily="2" charset="0"/>
              </a:rPr>
            </a:br>
            <a:r>
              <a:rPr lang="en-US" sz="5400" dirty="0">
                <a:solidFill>
                  <a:srgbClr val="FFFFFF"/>
                </a:solidFill>
                <a:latin typeface="Helvetica" pitchFamily="2" charset="0"/>
              </a:rPr>
              <a:t>Samuel Takwirira, Mentor: Dr. Karl Slifer </a:t>
            </a:r>
            <a:br>
              <a:rPr lang="en-US" sz="5400" i="1" dirty="0">
                <a:solidFill>
                  <a:srgbClr val="FFFFFF"/>
                </a:solidFill>
                <a:latin typeface="Helvetica" pitchFamily="2" charset="0"/>
              </a:rPr>
            </a:br>
            <a:r>
              <a:rPr lang="en-US" sz="5400" dirty="0">
                <a:solidFill>
                  <a:srgbClr val="FFFFFF"/>
                </a:solidFill>
                <a:latin typeface="Helvetica" pitchFamily="2" charset="0"/>
              </a:rPr>
              <a:t>Nuclear Physics Group</a:t>
            </a:r>
          </a:p>
        </p:txBody>
      </p:sp>
      <p:sp>
        <p:nvSpPr>
          <p:cNvPr id="2150" name="Text Box 161"/>
          <p:cNvSpPr txBox="1">
            <a:spLocks noChangeArrowheads="1"/>
          </p:cNvSpPr>
          <p:nvPr/>
        </p:nvSpPr>
        <p:spPr bwMode="auto">
          <a:xfrm>
            <a:off x="39852600" y="10275890"/>
            <a:ext cx="3048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4300" b="1">
                <a:solidFill>
                  <a:srgbClr val="FF9900"/>
                </a:solidFill>
                <a:latin typeface="Arial" charset="0"/>
              </a:defRPr>
            </a:lvl1pPr>
            <a:lvl2pPr marL="742950" indent="-28575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2pPr>
            <a:lvl3pPr marL="1143000" indent="-22860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3pPr>
            <a:lvl4pPr marL="1600200" indent="-22860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4pPr>
            <a:lvl5pPr marL="2057400" indent="-228600" eaLnBrk="0" hangingPunct="0">
              <a:defRPr sz="4300" b="1">
                <a:solidFill>
                  <a:srgbClr val="FF99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300" b="1">
                <a:solidFill>
                  <a:srgbClr val="FF99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endParaRPr lang="en-US" sz="3000" b="0">
              <a:solidFill>
                <a:schemeClr val="tx1"/>
              </a:solidFill>
            </a:endParaRPr>
          </a:p>
        </p:txBody>
      </p:sp>
      <p:sp>
        <p:nvSpPr>
          <p:cNvPr id="2152" name="Rectangle 164"/>
          <p:cNvSpPr>
            <a:spLocks noChangeArrowheads="1"/>
          </p:cNvSpPr>
          <p:nvPr/>
        </p:nvSpPr>
        <p:spPr bwMode="auto">
          <a:xfrm>
            <a:off x="14968086" y="6096000"/>
            <a:ext cx="13399027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Figures</a:t>
            </a:r>
            <a:endParaRPr lang="en-US" sz="60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4" name="Rectangle 166"/>
          <p:cNvSpPr>
            <a:spLocks noChangeArrowheads="1"/>
          </p:cNvSpPr>
          <p:nvPr/>
        </p:nvSpPr>
        <p:spPr bwMode="auto">
          <a:xfrm>
            <a:off x="654755" y="15436946"/>
            <a:ext cx="12530665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</p:txBody>
      </p:sp>
      <p:sp>
        <p:nvSpPr>
          <p:cNvPr id="2155" name="Rectangle 167"/>
          <p:cNvSpPr>
            <a:spLocks noChangeArrowheads="1"/>
          </p:cNvSpPr>
          <p:nvPr/>
        </p:nvSpPr>
        <p:spPr bwMode="auto">
          <a:xfrm>
            <a:off x="802837" y="6116782"/>
            <a:ext cx="12382583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solidFill>
                <a:srgbClr val="9999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65"/>
          <p:cNvSpPr>
            <a:spLocks noChangeArrowheads="1"/>
          </p:cNvSpPr>
          <p:nvPr/>
        </p:nvSpPr>
        <p:spPr bwMode="auto">
          <a:xfrm>
            <a:off x="30005866" y="24248917"/>
            <a:ext cx="12966699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231644" y="28844557"/>
            <a:ext cx="13004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l">
              <a:spcBef>
                <a:spcPts val="1200"/>
              </a:spcBef>
            </a:pPr>
            <a:r>
              <a:rPr lang="en-US" sz="2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9467" y="1143002"/>
            <a:ext cx="12869333" cy="3851371"/>
          </a:xfrm>
          <a:prstGeom prst="rect">
            <a:avLst/>
          </a:prstGeom>
        </p:spPr>
      </p:pic>
      <p:sp>
        <p:nvSpPr>
          <p:cNvPr id="74" name="TextBox 29"/>
          <p:cNvSpPr txBox="1">
            <a:spLocks noChangeArrowheads="1"/>
          </p:cNvSpPr>
          <p:nvPr/>
        </p:nvSpPr>
        <p:spPr bwMode="auto">
          <a:xfrm>
            <a:off x="-725313" y="31282352"/>
            <a:ext cx="15240000" cy="1009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1pPr>
            <a:lvl2pPr marL="742950" indent="-28575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2pPr>
            <a:lvl3pPr marL="1143000" indent="-22860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3pPr>
            <a:lvl4pPr marL="1600200" indent="-22860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4pPr>
            <a:lvl5pPr marL="2057400" indent="-228600"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1"/>
                </a:solidFill>
                <a:latin typeface="Arial" charset="0"/>
                <a:ea typeface="ＭＳ Ｐゴシック" pitchFamily="-105" charset="-128"/>
              </a:defRPr>
            </a:lvl9pPr>
          </a:lstStyle>
          <a:p>
            <a:pPr lvl="3" algn="l">
              <a:lnSpc>
                <a:spcPct val="150000"/>
              </a:lnSpc>
            </a:pPr>
            <a:r>
              <a:rPr lang="en-US" sz="4400" b="0" i="1" dirty="0">
                <a:latin typeface="Helvetica" pitchFamily="2" charset="0"/>
                <a:cs typeface="Times New Roman" pitchFamily="18" charset="0"/>
                <a:hlinkClick r:id="rId4"/>
              </a:rPr>
              <a:t>Samuel.Takwirira@unh.edu</a:t>
            </a:r>
            <a:r>
              <a:rPr lang="en-US" sz="4400" b="0" i="1" dirty="0">
                <a:latin typeface="Helvetica" pitchFamily="2" charset="0"/>
                <a:cs typeface="Times New Roman" pitchFamily="18" charset="0"/>
              </a:rPr>
              <a:t>, </a:t>
            </a:r>
            <a:r>
              <a:rPr lang="en-US" sz="4400" b="0" i="1" dirty="0">
                <a:latin typeface="Helvetica" pitchFamily="2" charset="0"/>
                <a:cs typeface="Times New Roman" pitchFamily="18" charset="0"/>
                <a:hlinkClick r:id="rId5"/>
              </a:rPr>
              <a:t>Karl.Slifer@unh.edu</a:t>
            </a:r>
            <a:endParaRPr lang="en-US" sz="4400" b="0" i="1" dirty="0">
              <a:latin typeface="Helvetica" pitchFamily="2" charset="0"/>
              <a:cs typeface="Times New Roman" pitchFamily="18" charset="0"/>
            </a:endParaRPr>
          </a:p>
        </p:txBody>
      </p:sp>
      <p:sp>
        <p:nvSpPr>
          <p:cNvPr id="36" name="Rectangle 164"/>
          <p:cNvSpPr>
            <a:spLocks noChangeArrowheads="1"/>
          </p:cNvSpPr>
          <p:nvPr/>
        </p:nvSpPr>
        <p:spPr bwMode="auto">
          <a:xfrm>
            <a:off x="30005867" y="6096000"/>
            <a:ext cx="12869333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n-US" sz="54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2546"/>
          <p:cNvSpPr txBox="1">
            <a:spLocks noChangeArrowheads="1"/>
          </p:cNvSpPr>
          <p:nvPr/>
        </p:nvSpPr>
        <p:spPr bwMode="auto">
          <a:xfrm>
            <a:off x="680155" y="8261787"/>
            <a:ext cx="12733867" cy="7171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1200150" indent="-4572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algn="l" eaLnBrk="1" hangingPunct="1">
              <a:spcBef>
                <a:spcPts val="1200"/>
              </a:spcBef>
            </a:pPr>
            <a:r>
              <a:rPr lang="en-US" sz="4400" dirty="0">
                <a:latin typeface="Helvetica" pitchFamily="2" charset="0"/>
                <a:cs typeface="Times New Roman" panose="02020603050405020304" pitchFamily="18" charset="0"/>
              </a:rPr>
              <a:t>Context: </a:t>
            </a:r>
            <a:r>
              <a:rPr lang="en-US" sz="4400" b="0" dirty="0">
                <a:latin typeface="Helvetica" pitchFamily="2" charset="0"/>
                <a:cs typeface="Times New Roman" panose="02020603050405020304" pitchFamily="18" charset="0"/>
              </a:rPr>
              <a:t>Dynamic Nuclear Polarization (DNP) is a critical technique used to significantly enhance the sensitivity of Magnetic Resonance signals</a:t>
            </a:r>
          </a:p>
          <a:p>
            <a:pPr marL="0" indent="0" algn="l" eaLnBrk="1" hangingPunct="1">
              <a:spcBef>
                <a:spcPts val="1200"/>
              </a:spcBef>
            </a:pPr>
            <a:r>
              <a:rPr lang="en-US" sz="4400" dirty="0">
                <a:latin typeface="Helvetica" pitchFamily="2" charset="0"/>
                <a:cs typeface="Times New Roman" panose="02020603050405020304" pitchFamily="18" charset="0"/>
              </a:rPr>
              <a:t>Problem: </a:t>
            </a:r>
            <a:r>
              <a:rPr lang="en-US" sz="4400" b="0" dirty="0">
                <a:latin typeface="Helvetica" pitchFamily="2" charset="0"/>
                <a:cs typeface="Times New Roman" panose="02020603050405020304" pitchFamily="18" charset="0"/>
              </a:rPr>
              <a:t>While radicals are essential for polarization, the expensive process (thousands) used to create them can also inadvertently destroy them</a:t>
            </a:r>
          </a:p>
          <a:p>
            <a:pPr marL="0" indent="0" algn="l" eaLnBrk="1" hangingPunct="1">
              <a:spcBef>
                <a:spcPts val="1200"/>
              </a:spcBef>
            </a:pPr>
            <a:r>
              <a:rPr lang="en-US" sz="4400" dirty="0">
                <a:latin typeface="Helvetica" pitchFamily="2" charset="0"/>
                <a:cs typeface="Times New Roman" panose="02020603050405020304" pitchFamily="18" charset="0"/>
              </a:rPr>
              <a:t>Aim: </a:t>
            </a:r>
            <a:r>
              <a:rPr lang="en-US" sz="4400" b="0" dirty="0">
                <a:latin typeface="Helvetica" pitchFamily="2" charset="0"/>
                <a:cs typeface="Times New Roman" panose="02020603050405020304" pitchFamily="18" charset="0"/>
              </a:rPr>
              <a:t>We aim to identify depletion factors and eliminate thermal instability to ensure a stable environment for optimized DNP enhancement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86" y="16864063"/>
            <a:ext cx="13275734" cy="12280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l">
              <a:buFont typeface="Wingdings" pitchFamily="2" charset="2"/>
              <a:buChar char="q"/>
            </a:pPr>
            <a:r>
              <a:rPr lang="en-US" sz="440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Monte Carlo Simulation (TOPAS)– 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To optimize radical production for DNP, we utilized TOPAS (Tool for Particle Simulation), a Geant4-based Monte Carlo platform. The simulation was configured via parameter files using the 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Courier New" panose="02070309020205020404" pitchFamily="49" charset="0"/>
              </a:rPr>
              <a:t>g4em-standard_opt4 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physics module to provide high-precision tracking of electron trajectories, energy loss, and interactions within the defined 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Courier New" panose="02070309020205020404" pitchFamily="49" charset="0"/>
              </a:rPr>
              <a:t>World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volume.</a:t>
            </a:r>
          </a:p>
          <a:p>
            <a:pPr marL="571500" indent="-571500" algn="l">
              <a:buFont typeface="Wingdings" pitchFamily="2" charset="2"/>
              <a:buChar char="q"/>
            </a:pPr>
            <a:r>
              <a:rPr lang="en-US" sz="440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Data Analysis &amp; Visualization– 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The simulation outputted absorbed dose in CSV format. Data was processed in MATLAB to evaluate dose distribution.</a:t>
            </a:r>
            <a:endParaRPr lang="en-US" sz="4400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  <a:p>
            <a:pPr marL="571500" indent="-571500" algn="l">
              <a:buFont typeface="Wingdings" pitchFamily="2" charset="2"/>
              <a:buChar char="q"/>
            </a:pPr>
            <a:r>
              <a:rPr lang="en-US" sz="440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Depth-Dose Curves– 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Plotted to determine energy deposition vs. material depth.</a:t>
            </a:r>
          </a:p>
          <a:p>
            <a:pPr marL="571500" indent="-571500" algn="l">
              <a:buFont typeface="Wingdings" pitchFamily="2" charset="2"/>
              <a:buChar char="q"/>
            </a:pPr>
            <a:r>
              <a:rPr lang="en-US" sz="440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2D Mapping–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Generated using MATLAB’s 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Courier New" panose="02070309020205020404" pitchFamily="49" charset="0"/>
              </a:rPr>
              <a:t>imagesc</a:t>
            </a:r>
            <a:r>
              <a:rPr lang="en-US" sz="44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function to visualize spatial dose uniformity across the target material.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005866" y="26243845"/>
            <a:ext cx="1327573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l">
              <a:buFont typeface="Wingdings" pitchFamily="2" charset="2"/>
              <a:buChar char="q"/>
            </a:pPr>
            <a:r>
              <a:rPr lang="en-US" sz="36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Framework: Perl J, et al. </a:t>
            </a:r>
            <a:r>
              <a:rPr lang="en-US" sz="3600" b="0" i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TOPAS: An innovative proton therapy simulation framework.</a:t>
            </a:r>
            <a:r>
              <a:rPr lang="en-US" sz="36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Med Phys. 2012;39(11):6818-35.</a:t>
            </a:r>
          </a:p>
          <a:p>
            <a:pPr marL="571500" lvl="0" indent="-571500" algn="l">
              <a:buFont typeface="Wingdings" pitchFamily="2" charset="2"/>
              <a:buChar char="q"/>
            </a:pPr>
            <a:r>
              <a:rPr lang="en-US" sz="36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Radical Physics: Crabb DG, Meyer W. </a:t>
            </a:r>
            <a:r>
              <a:rPr lang="en-US" sz="3600" b="0" i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Solid Polarized Targets for Nuclear and Particle Physics.</a:t>
            </a:r>
            <a:r>
              <a:rPr lang="en-US" sz="36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Annu. Rev. Nucl. Part. Sci. 1997. 47:67-109.</a:t>
            </a:r>
          </a:p>
          <a:p>
            <a:pPr marL="571500" lvl="0" indent="-571500" algn="l">
              <a:buFont typeface="Wingdings" pitchFamily="2" charset="2"/>
              <a:buChar char="q"/>
            </a:pPr>
            <a:r>
              <a:rPr lang="en-US" sz="36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Radiolysis Modeling: Ramos-Méndez J, et al. </a:t>
            </a:r>
            <a:r>
              <a:rPr lang="en-US" sz="3600" b="0" i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TOPAS-nBio: An extension to the TOPAS simulation toolkit for cellular and sub-cellular radiobiology.</a:t>
            </a:r>
            <a:r>
              <a:rPr lang="en-US" sz="36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Phys Med Biol. 2019.</a:t>
            </a:r>
          </a:p>
          <a:p>
            <a:pPr marL="571500" lvl="0" indent="-571500" algn="l">
              <a:buFont typeface="Wingdings" pitchFamily="2" charset="2"/>
              <a:buChar char="q"/>
            </a:pPr>
            <a:r>
              <a:rPr lang="en-US" sz="36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Target Kinetics: London GW, et al. </a:t>
            </a:r>
            <a:r>
              <a:rPr lang="en-US" sz="3600" b="0" i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Radiation damage in polarized target materials.</a:t>
            </a:r>
            <a:r>
              <a:rPr lang="en-US" sz="3600" b="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NIM A. 1994.</a:t>
            </a:r>
          </a:p>
        </p:txBody>
      </p:sp>
      <p:sp>
        <p:nvSpPr>
          <p:cNvPr id="24" name="Rectangle 166"/>
          <p:cNvSpPr>
            <a:spLocks noChangeArrowheads="1"/>
          </p:cNvSpPr>
          <p:nvPr/>
        </p:nvSpPr>
        <p:spPr bwMode="auto">
          <a:xfrm>
            <a:off x="604286" y="29268577"/>
            <a:ext cx="12530665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55"/>
          <a:stretch>
            <a:fillRect/>
          </a:stretch>
        </p:blipFill>
        <p:spPr>
          <a:xfrm>
            <a:off x="14968086" y="23963197"/>
            <a:ext cx="13399027" cy="6955684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30005866" y="8051800"/>
            <a:ext cx="13275734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4400" b="0" dirty="0">
                <a:solidFill>
                  <a:srgbClr val="000000"/>
                </a:solidFill>
                <a:latin typeface="Helvetica" pitchFamily="2" charset="0"/>
                <a:cs typeface="Times New Roman" panose="02020603050405020304" pitchFamily="18" charset="0"/>
              </a:rPr>
              <a:t>Factors that affect dose uniformity:</a:t>
            </a:r>
          </a:p>
          <a:p>
            <a:pPr algn="l"/>
            <a:endParaRPr lang="en-US" sz="4400" b="0" dirty="0">
              <a:solidFill>
                <a:srgbClr val="000000"/>
              </a:solidFill>
              <a:latin typeface="Helvetica" pitchFamily="2" charset="0"/>
              <a:cs typeface="Times New Roman" panose="02020603050405020304" pitchFamily="18" charset="0"/>
            </a:endParaRPr>
          </a:p>
          <a:p>
            <a:pPr marL="685800" indent="-685800" algn="l">
              <a:buFont typeface="Wingdings" pitchFamily="2" charset="2"/>
              <a:buChar char="q"/>
            </a:pPr>
            <a:r>
              <a:rPr lang="en-US" sz="4400" b="0" dirty="0">
                <a:solidFill>
                  <a:srgbClr val="000000"/>
                </a:solidFill>
                <a:latin typeface="Helvetica" pitchFamily="2" charset="0"/>
                <a:cs typeface="Times New Roman" panose="02020603050405020304" pitchFamily="18" charset="0"/>
              </a:rPr>
              <a:t>Target Geometry (Symmetry, Target length)</a:t>
            </a:r>
          </a:p>
          <a:p>
            <a:pPr marL="685800" indent="-685800" algn="l">
              <a:buFont typeface="Wingdings" pitchFamily="2" charset="2"/>
              <a:buChar char="q"/>
            </a:pPr>
            <a:r>
              <a:rPr lang="en-US" sz="4400" b="0" dirty="0">
                <a:solidFill>
                  <a:srgbClr val="000000"/>
                </a:solidFill>
                <a:latin typeface="Helvetica" pitchFamily="2" charset="0"/>
                <a:cs typeface="Times New Roman" panose="02020603050405020304" pitchFamily="18" charset="0"/>
              </a:rPr>
              <a:t>Energy Level</a:t>
            </a:r>
          </a:p>
          <a:p>
            <a:pPr marL="685800" indent="-685800" algn="l">
              <a:buFont typeface="Wingdings" pitchFamily="2" charset="2"/>
              <a:buChar char="q"/>
            </a:pPr>
            <a:r>
              <a:rPr lang="en-US" sz="4400" b="0" dirty="0">
                <a:solidFill>
                  <a:srgbClr val="000000"/>
                </a:solidFill>
                <a:latin typeface="Helvetica" pitchFamily="2" charset="0"/>
                <a:cs typeface="Times New Roman" panose="02020603050405020304" pitchFamily="18" charset="0"/>
              </a:rPr>
              <a:t>Material Purity/Homogeneity (100% pure </a:t>
            </a:r>
            <a:r>
              <a:rPr lang="en-US" sz="4400" b="0" i="1" dirty="0">
                <a:solidFill>
                  <a:srgbClr val="000000"/>
                </a:solidFill>
                <a:latin typeface="Helvetica" pitchFamily="2" charset="0"/>
                <a:cs typeface="Times New Roman" panose="02020603050405020304" pitchFamily="18" charset="0"/>
              </a:rPr>
              <a:t>in silico</a:t>
            </a:r>
            <a:r>
              <a:rPr lang="en-US" sz="4400" b="0" dirty="0">
                <a:solidFill>
                  <a:srgbClr val="000000"/>
                </a:solidFill>
                <a:latin typeface="Helvetica" pitchFamily="2" charset="0"/>
                <a:cs typeface="Times New Roman" panose="02020603050405020304" pitchFamily="18" charset="0"/>
              </a:rPr>
              <a:t>)</a:t>
            </a:r>
          </a:p>
          <a:p>
            <a:pPr marL="685800" indent="-685800" algn="l">
              <a:buFont typeface="Wingdings" pitchFamily="2" charset="2"/>
              <a:buChar char="q"/>
            </a:pPr>
            <a:r>
              <a:rPr lang="en-US" sz="4400" b="0" i="1" dirty="0">
                <a:solidFill>
                  <a:srgbClr val="000000"/>
                </a:solidFill>
                <a:latin typeface="Helvetica" pitchFamily="2" charset="0"/>
                <a:cs typeface="Times New Roman" panose="02020603050405020304" pitchFamily="18" charset="0"/>
              </a:rPr>
              <a:t>Irradiation Time?</a:t>
            </a:r>
          </a:p>
          <a:p>
            <a:pPr marL="685800" indent="-685800" algn="l">
              <a:buFont typeface="Wingdings" pitchFamily="2" charset="2"/>
              <a:buChar char="q"/>
            </a:pPr>
            <a:endParaRPr lang="en-US" sz="4400" b="0" i="1" dirty="0">
              <a:solidFill>
                <a:srgbClr val="000000"/>
              </a:solidFill>
              <a:latin typeface="Helvetica" pitchFamily="2" charset="0"/>
              <a:cs typeface="Times New Roman" panose="02020603050405020304" pitchFamily="18" charset="0"/>
            </a:endParaRPr>
          </a:p>
          <a:p>
            <a:pPr marL="685800" indent="-685800" algn="l">
              <a:buFont typeface="Wingdings" pitchFamily="2" charset="2"/>
              <a:buChar char="q"/>
            </a:pPr>
            <a:endParaRPr lang="en-US" sz="4400" b="0" i="1" dirty="0">
              <a:solidFill>
                <a:srgbClr val="000000"/>
              </a:solidFill>
              <a:latin typeface="Helvetica" pitchFamily="2" charset="0"/>
              <a:cs typeface="Times New Roman" panose="02020603050405020304" pitchFamily="18" charset="0"/>
            </a:endParaRPr>
          </a:p>
          <a:p>
            <a:pPr marL="685800" indent="-685800" algn="l">
              <a:buFont typeface="Wingdings" pitchFamily="2" charset="2"/>
              <a:buChar char="q"/>
            </a:pPr>
            <a:endParaRPr lang="en-US" sz="4400" b="0" i="1" dirty="0">
              <a:solidFill>
                <a:srgbClr val="000000"/>
              </a:solidFill>
              <a:latin typeface="Helvetica" pitchFamily="2" charset="0"/>
              <a:cs typeface="Times New Roman" panose="02020603050405020304" pitchFamily="18" charset="0"/>
            </a:endParaRPr>
          </a:p>
          <a:p>
            <a:pPr marL="685800" indent="-685800" algn="l">
              <a:buFont typeface="Wingdings" pitchFamily="2" charset="2"/>
              <a:buChar char="q"/>
            </a:pPr>
            <a:endParaRPr lang="en-US" sz="4400" b="0" dirty="0">
              <a:solidFill>
                <a:srgbClr val="000000"/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022FAC-F613-04F5-DB15-894A5EAA0E84}"/>
              </a:ext>
            </a:extLst>
          </p:cNvPr>
          <p:cNvSpPr txBox="1"/>
          <p:nvPr/>
        </p:nvSpPr>
        <p:spPr>
          <a:xfrm>
            <a:off x="17082379" y="31522739"/>
            <a:ext cx="94724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126A"/>
                </a:solidFill>
                <a:latin typeface="Helvetica" pitchFamily="2" charset="0"/>
                <a:cs typeface="Times New Roman" panose="02020603050405020304" pitchFamily="18" charset="0"/>
              </a:rPr>
              <a:t>Fig. 1.03 – Details on target set up.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36B2F7-5989-CC3C-05B2-8AC679AA340F}"/>
              </a:ext>
            </a:extLst>
          </p:cNvPr>
          <p:cNvGrpSpPr/>
          <p:nvPr/>
        </p:nvGrpSpPr>
        <p:grpSpPr>
          <a:xfrm>
            <a:off x="14540087" y="8126087"/>
            <a:ext cx="14240619" cy="7885928"/>
            <a:chOff x="14540087" y="7551018"/>
            <a:chExt cx="14240619" cy="788592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FC25CD-5D7C-8A71-6CDC-854D8CA96884}"/>
                </a:ext>
              </a:extLst>
            </p:cNvPr>
            <p:cNvSpPr txBox="1"/>
            <p:nvPr/>
          </p:nvSpPr>
          <p:spPr>
            <a:xfrm>
              <a:off x="14540087" y="14667505"/>
              <a:ext cx="1424061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rgbClr val="00126A"/>
                  </a:solidFill>
                  <a:latin typeface="Helvetica" pitchFamily="2" charset="0"/>
                  <a:cs typeface="Times New Roman" panose="02020603050405020304" pitchFamily="18" charset="0"/>
                </a:rPr>
                <a:t>Fig. 1.01 ––Recreating the Lab Space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A1688BD-6007-0628-31B7-3E177A2F1868}"/>
                </a:ext>
              </a:extLst>
            </p:cNvPr>
            <p:cNvGrpSpPr/>
            <p:nvPr/>
          </p:nvGrpSpPr>
          <p:grpSpPr>
            <a:xfrm>
              <a:off x="14968086" y="7551018"/>
              <a:ext cx="13399027" cy="6787657"/>
              <a:chOff x="15392400" y="10360130"/>
              <a:chExt cx="12812537" cy="5475532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1943071" y="10363200"/>
                <a:ext cx="6261866" cy="5472462"/>
              </a:xfrm>
              <a:prstGeom prst="rect">
                <a:avLst/>
              </a:prstGeom>
            </p:spPr>
          </p:pic>
          <p:pic>
            <p:nvPicPr>
              <p:cNvPr id="18" name="Picture 17" descr="A diagram of a rectangular object&#10;&#10;AI-generated content may be incorrect.">
                <a:extLst>
                  <a:ext uri="{FF2B5EF4-FFF2-40B4-BE49-F238E27FC236}">
                    <a16:creationId xmlns:a16="http://schemas.microsoft.com/office/drawing/2014/main" id="{6BDD5797-220D-846A-9F04-F1F98A4FDD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624" t="3658" r="14970" b="911"/>
              <a:stretch>
                <a:fillRect/>
              </a:stretch>
            </p:blipFill>
            <p:spPr>
              <a:xfrm>
                <a:off x="15392400" y="10360130"/>
                <a:ext cx="6550671" cy="5472283"/>
              </a:xfrm>
              <a:prstGeom prst="rect">
                <a:avLst/>
              </a:prstGeom>
            </p:spPr>
          </p:pic>
        </p:grpSp>
      </p:grpSp>
      <p:sp>
        <p:nvSpPr>
          <p:cNvPr id="27" name="Rectangle 164">
            <a:extLst>
              <a:ext uri="{FF2B5EF4-FFF2-40B4-BE49-F238E27FC236}">
                <a16:creationId xmlns:a16="http://schemas.microsoft.com/office/drawing/2014/main" id="{F249AB3C-D94D-639D-EA9D-F183A3566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5866" y="15480282"/>
            <a:ext cx="12869333" cy="13716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37160" tIns="68580" rIns="137160" bIns="68580" anchor="ctr"/>
          <a:lstStyle/>
          <a:p>
            <a:pPr defTabSz="3762375"/>
            <a:r>
              <a:rPr lang="en-US" sz="60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US" sz="54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05412B8-5D75-42F7-A1F8-E599ED048045}"/>
              </a:ext>
            </a:extLst>
          </p:cNvPr>
          <p:cNvGrpSpPr/>
          <p:nvPr/>
        </p:nvGrpSpPr>
        <p:grpSpPr>
          <a:xfrm>
            <a:off x="15057651" y="16916447"/>
            <a:ext cx="13397081" cy="5988997"/>
            <a:chOff x="15077725" y="16415702"/>
            <a:chExt cx="13397081" cy="598899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332608-990F-267B-CDE0-7FB20EFAB5BD}"/>
                </a:ext>
              </a:extLst>
            </p:cNvPr>
            <p:cNvSpPr txBox="1"/>
            <p:nvPr/>
          </p:nvSpPr>
          <p:spPr>
            <a:xfrm>
              <a:off x="17695235" y="21635258"/>
              <a:ext cx="84689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>
                  <a:solidFill>
                    <a:srgbClr val="00126A"/>
                  </a:solidFill>
                  <a:latin typeface="Helvetica" pitchFamily="2" charset="0"/>
                  <a:cs typeface="Times New Roman" panose="02020603050405020304" pitchFamily="18" charset="0"/>
                </a:rPr>
                <a:t>Fig. 1.02 –– Simulation Results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D8A1DC2-02EA-C63E-D531-2754996F3524}"/>
                </a:ext>
              </a:extLst>
            </p:cNvPr>
            <p:cNvGrpSpPr/>
            <p:nvPr/>
          </p:nvGrpSpPr>
          <p:grpSpPr>
            <a:xfrm>
              <a:off x="15077725" y="16415702"/>
              <a:ext cx="13397081" cy="5136138"/>
              <a:chOff x="14084212" y="17180882"/>
              <a:chExt cx="14135630" cy="5336281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F4B8554C-68EA-7A38-A6D8-19CE432DC6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47642" y="17180883"/>
                <a:ext cx="6172200" cy="5336280"/>
              </a:xfrm>
              <a:prstGeom prst="rect">
                <a:avLst/>
              </a:prstGeom>
            </p:spPr>
          </p:pic>
          <p:pic>
            <p:nvPicPr>
              <p:cNvPr id="12" name="Picture 11" descr="A graph with a green line&#10;&#10;AI-generated content may be incorrect.">
                <a:extLst>
                  <a:ext uri="{FF2B5EF4-FFF2-40B4-BE49-F238E27FC236}">
                    <a16:creationId xmlns:a16="http://schemas.microsoft.com/office/drawing/2014/main" id="{1C680BC0-82EB-BD2C-9A82-8A652795E6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084212" y="17180882"/>
                <a:ext cx="7979760" cy="5336279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78244D-02D0-B5C2-45DE-1751AB21519D}"/>
                  </a:ext>
                </a:extLst>
              </p:cNvPr>
              <p:cNvSpPr txBox="1"/>
              <p:nvPr/>
            </p:nvSpPr>
            <p:spPr>
              <a:xfrm>
                <a:off x="30005866" y="18392105"/>
                <a:ext cx="13255648" cy="4540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Simulating the irradiation of both sides of the cylindrical target</a:t>
                </a:r>
              </a:p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Plotting the 2D Dose distribution to maximize dose uniformity</a:t>
                </a:r>
              </a:p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Calculating the G-Value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𝑅𝑎𝑑𝑖𝑐𝑎𝑙𝑠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𝑒𝑉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𝐸𝑛𝑒𝑟𝑔𝑦</m:t>
                        </m:r>
                      </m:den>
                    </m:f>
                  </m:oMath>
                </a14:m>
                <a:endParaRPr lang="en-US" sz="4400" b="0" dirty="0">
                  <a:solidFill>
                    <a:schemeClr val="tx1"/>
                  </a:solidFill>
                  <a:latin typeface="Helvetica" pitchFamily="2" charset="0"/>
                </a:endParaRPr>
              </a:p>
              <a:p>
                <a:pPr marL="571500" indent="-571500" algn="l">
                  <a:buFont typeface="Wingdings" pitchFamily="2" charset="2"/>
                  <a:buChar char="q"/>
                </a:pP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Scoring electron density (N</a:t>
                </a:r>
                <a:r>
                  <a:rPr lang="en-US" sz="4400" b="0" baseline="-25000" dirty="0">
                    <a:solidFill>
                      <a:schemeClr val="tx1"/>
                    </a:solidFill>
                    <a:latin typeface="Helvetica" pitchFamily="2" charset="0"/>
                  </a:rPr>
                  <a:t>s</a:t>
                </a:r>
                <a:r>
                  <a:rPr lang="en-US" sz="4400" b="0" dirty="0">
                    <a:solidFill>
                      <a:schemeClr val="tx1"/>
                    </a:solidFill>
                    <a:latin typeface="Helvetica" pitchFamily="2" charset="0"/>
                  </a:rPr>
                  <a:t>) directly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78244D-02D0-B5C2-45DE-1751AB215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5866" y="18392105"/>
                <a:ext cx="13255648" cy="4540154"/>
              </a:xfrm>
              <a:prstGeom prst="rect">
                <a:avLst/>
              </a:prstGeom>
              <a:blipFill>
                <a:blip r:embed="rId11"/>
                <a:stretch>
                  <a:fillRect l="-1627" t="-2793" r="-2967" b="-5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10376</TotalTime>
  <Words>430</Words>
  <Application>Microsoft Macintosh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Cambria Math</vt:lpstr>
      <vt:lpstr>Helvetica</vt:lpstr>
      <vt:lpstr>Times New Roman</vt:lpstr>
      <vt:lpstr>Wingdings</vt:lpstr>
      <vt:lpstr>Default Design</vt:lpstr>
      <vt:lpstr>Optimizing Radical Evolution for Polarized Targets in DNP TOPAS Geant4 – Monte Carlo Simulation  Samuel Takwirira, Mentor: Dr. Karl Slifer  Nuclear Physics Group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Samuel Takwirira</cp:lastModifiedBy>
  <cp:revision>298</cp:revision>
  <cp:lastPrinted>2014-02-24T14:53:09Z</cp:lastPrinted>
  <dcterms:created xsi:type="dcterms:W3CDTF">2004-07-26T21:45:23Z</dcterms:created>
  <dcterms:modified xsi:type="dcterms:W3CDTF">2026-03-09T14:48:49Z</dcterms:modified>
  <cp:category>science research poster</cp:category>
</cp:coreProperties>
</file>