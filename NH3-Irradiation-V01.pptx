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43891200" cy="32918400"/>
  <p:notesSz cx="7077075" cy="936307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5552">
          <p15:clr>
            <a:srgbClr val="A4A3A4"/>
          </p15:clr>
        </p15:guide>
        <p15:guide id="3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CCECFF"/>
    <a:srgbClr val="000066"/>
    <a:srgbClr val="00126A"/>
    <a:srgbClr val="0033CC"/>
    <a:srgbClr val="CCCCCC"/>
    <a:srgbClr val="FF9900"/>
    <a:srgbClr val="990000"/>
    <a:srgbClr val="000050"/>
    <a:srgbClr val="000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 autoAdjust="0"/>
    <p:restoredTop sz="94612" autoAdjust="0"/>
  </p:normalViewPr>
  <p:slideViewPr>
    <p:cSldViewPr>
      <p:cViewPr varScale="1">
        <p:scale>
          <a:sx n="44" d="100"/>
          <a:sy n="44" d="100"/>
        </p:scale>
        <p:origin x="4264" y="312"/>
      </p:cViewPr>
      <p:guideLst>
        <p:guide orient="horz" pos="10368"/>
        <p:guide pos="15552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8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8727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8727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DCE5CEB-6363-420F-BE45-85B064B89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26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E7C82-5B16-8040-8FD3-FB5ABC635C3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05325"/>
            <a:ext cx="5661025" cy="36877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B1780-5414-B742-B36F-87135CBB5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9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B1780-5414-B742-B36F-87135CBB54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7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4" y="18653125"/>
            <a:ext cx="30724474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5278E-ED96-461A-883E-5FD94BC35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2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D8D97-1826-4078-ADDA-4E99B734A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1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43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73675-D381-4E0E-B86F-9F9EFE0572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4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8" y="7680325"/>
            <a:ext cx="19675474" cy="2172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3" y="7680325"/>
            <a:ext cx="19675474" cy="2172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8DAF2-D655-47B3-A184-648194FE7E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0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8"/>
            <a:ext cx="19392901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1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8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F92EC-8C3C-4F10-858C-C66E68A9E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5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AEDA9-9C5F-4252-8D07-E5D3174E9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1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BADD-EE0D-4AEE-A966-D1DAD5921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4" y="1311275"/>
            <a:ext cx="14439901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4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4" y="6888163"/>
            <a:ext cx="14439901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56635-F299-487E-8478-361B2D7E66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4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8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3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8BA4C-6842-4480-8686-9E83B0824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9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5C329-9094-49E3-ADB9-7C70C8CFFD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6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0" y="1317625"/>
            <a:ext cx="9875837" cy="28089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3" cy="28089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BC182-0EAC-4479-8D18-C53192F402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77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193927" y="1317625"/>
            <a:ext cx="39503350" cy="5486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93928" y="7680326"/>
            <a:ext cx="19675474" cy="1078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2021803" y="7680326"/>
            <a:ext cx="19675474" cy="1078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193928" y="18619788"/>
            <a:ext cx="19675474" cy="1078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021803" y="18619788"/>
            <a:ext cx="19675474" cy="1078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E7164-4707-4A19-A6AB-6533AC9FA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5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4279" y="1317625"/>
            <a:ext cx="3950264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4279" y="7680325"/>
            <a:ext cx="39502645" cy="2172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4279" y="29978350"/>
            <a:ext cx="102418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algn="l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879" y="29978350"/>
            <a:ext cx="138994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5079" y="29978350"/>
            <a:ext cx="102418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algn="r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D3B0B1D-8805-4920-9608-A1D4D0B3DD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2pPr>
      <a:lvl3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3pPr>
      <a:lvl4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4pPr>
      <a:lvl5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5pPr>
      <a:lvl6pPr marL="4572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6pPr>
      <a:lvl7pPr marL="9144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7pPr>
      <a:lvl8pPr marL="13716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8pPr>
      <a:lvl9pPr marL="18288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9pPr>
    </p:titleStyle>
    <p:bodyStyle>
      <a:lvl1pPr marL="1409700" indent="-14097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7525" indent="-1176338" algn="l" defTabSz="3762375" rtl="0" eaLnBrk="0" fontAlgn="base" hangingPunct="0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175" indent="-9398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3363" indent="-939800" algn="l" defTabSz="3762375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6138" indent="-941388" algn="l" defTabSz="3762375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233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805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77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49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Karl.Slifer@unh.edu" TargetMode="External"/><Relationship Id="rId11" Type="http://schemas.openxmlformats.org/officeDocument/2006/relationships/image" Target="../media/image7.png"/><Relationship Id="rId5" Type="http://schemas.openxmlformats.org/officeDocument/2006/relationships/hyperlink" Target="mailto:Samuel.Takwirira@unh.edu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Rectangle 2"/>
              <p:cNvSpPr>
                <a:spLocks noGrp="1" noChangeArrowheads="1"/>
              </p:cNvSpPr>
              <p:nvPr>
                <p:ph type="title" sz="quarter"/>
              </p:nvPr>
            </p:nvSpPr>
            <p:spPr>
              <a:xfrm>
                <a:off x="0" y="1"/>
                <a:ext cx="43891200" cy="5486399"/>
              </a:xfrm>
              <a:gradFill>
                <a:gsLst>
                  <a:gs pos="0">
                    <a:schemeClr val="tx2">
                      <a:lumMod val="50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>
                      <a:lumMod val="50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 indent="-457200" algn="l" eaLnBrk="1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  <a:t>Optimizing Radical Evolution for Polarized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8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8800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</m:e>
                      <m:sub>
                        <m:r>
                          <a:rPr lang="en-US" sz="8800" b="0" i="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  <a:t> Targets</a:t>
                </a:r>
                <a:b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</a:br>
                <a:r>
                  <a:rPr lang="en-US" sz="8800" dirty="0">
                    <a:solidFill>
                      <a:srgbClr val="00B0F0"/>
                    </a:solidFill>
                    <a:latin typeface="Helvetica" pitchFamily="2" charset="0"/>
                  </a:rPr>
                  <a:t>TOPAS Geant4 – Monte Carlo Simulation</a:t>
                </a:r>
                <a:br>
                  <a:rPr lang="en-US" sz="9600" dirty="0">
                    <a:latin typeface="Helvetica" pitchFamily="2" charset="0"/>
                  </a:rPr>
                </a:br>
                <a:br>
                  <a:rPr lang="en-US" sz="4000" dirty="0">
                    <a:latin typeface="Helvetica" pitchFamily="2" charset="0"/>
                  </a:rPr>
                </a:br>
                <a:r>
                  <a:rPr lang="en-US" sz="5400" dirty="0">
                    <a:solidFill>
                      <a:srgbClr val="FFFFFF"/>
                    </a:solidFill>
                    <a:latin typeface="Helvetica" pitchFamily="2" charset="0"/>
                  </a:rPr>
                  <a:t>Samuel Takwirira, Mentored by Dr. Karl Slifer</a:t>
                </a:r>
                <a:br>
                  <a:rPr lang="en-US" sz="5400" i="1" dirty="0">
                    <a:solidFill>
                      <a:srgbClr val="FFFFFF"/>
                    </a:solidFill>
                    <a:latin typeface="Helvetica" pitchFamily="2" charset="0"/>
                  </a:rPr>
                </a:br>
                <a:r>
                  <a:rPr lang="en-US" sz="5400" dirty="0">
                    <a:solidFill>
                      <a:srgbClr val="FFFFFF"/>
                    </a:solidFill>
                    <a:latin typeface="Helvetica" pitchFamily="2" charset="0"/>
                  </a:rPr>
                  <a:t>Nuclear Physics Group</a:t>
                </a:r>
              </a:p>
            </p:txBody>
          </p:sp>
        </mc:Choice>
        <mc:Fallback xmlns="">
          <p:sp>
            <p:nvSpPr>
              <p:cNvPr id="205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sz="quarter"/>
              </p:nvPr>
            </p:nvSpPr>
            <p:spPr>
              <a:xfrm>
                <a:off x="0" y="1"/>
                <a:ext cx="43891200" cy="5486399"/>
              </a:xfrm>
              <a:blipFill>
                <a:blip r:embed="rId3"/>
                <a:stretch>
                  <a:fillRect l="-665" t="-922" b="-2535"/>
                </a:stretch>
              </a:blipFill>
              <a:ln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" name="Text Box 161"/>
          <p:cNvSpPr txBox="1">
            <a:spLocks noChangeArrowheads="1"/>
          </p:cNvSpPr>
          <p:nvPr/>
        </p:nvSpPr>
        <p:spPr bwMode="auto">
          <a:xfrm>
            <a:off x="39852600" y="10275890"/>
            <a:ext cx="3048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4300" b="1">
                <a:solidFill>
                  <a:srgbClr val="FF9900"/>
                </a:solidFill>
                <a:latin typeface="Arial" charset="0"/>
              </a:defRPr>
            </a:lvl1pPr>
            <a:lvl2pPr marL="742950" indent="-28575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2pPr>
            <a:lvl3pPr marL="11430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3pPr>
            <a:lvl4pPr marL="16002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4pPr>
            <a:lvl5pPr marL="20574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en-US" sz="3000" b="0">
              <a:solidFill>
                <a:schemeClr val="tx1"/>
              </a:solidFill>
            </a:endParaRPr>
          </a:p>
        </p:txBody>
      </p:sp>
      <p:sp>
        <p:nvSpPr>
          <p:cNvPr id="2152" name="Rectangle 164"/>
          <p:cNvSpPr>
            <a:spLocks noChangeArrowheads="1"/>
          </p:cNvSpPr>
          <p:nvPr/>
        </p:nvSpPr>
        <p:spPr bwMode="auto">
          <a:xfrm>
            <a:off x="14896130" y="6115513"/>
            <a:ext cx="13399027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Figures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4" name="Rectangle 166"/>
          <p:cNvSpPr>
            <a:spLocks noChangeArrowheads="1"/>
          </p:cNvSpPr>
          <p:nvPr/>
        </p:nvSpPr>
        <p:spPr bwMode="auto">
          <a:xfrm>
            <a:off x="654755" y="14859000"/>
            <a:ext cx="12530665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2155" name="Rectangle 167"/>
          <p:cNvSpPr>
            <a:spLocks noChangeArrowheads="1"/>
          </p:cNvSpPr>
          <p:nvPr/>
        </p:nvSpPr>
        <p:spPr bwMode="auto">
          <a:xfrm>
            <a:off x="802837" y="6116782"/>
            <a:ext cx="1238258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solidFill>
                <a:srgbClr val="9999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65"/>
          <p:cNvSpPr>
            <a:spLocks noChangeArrowheads="1"/>
          </p:cNvSpPr>
          <p:nvPr/>
        </p:nvSpPr>
        <p:spPr bwMode="auto">
          <a:xfrm>
            <a:off x="30005866" y="21717000"/>
            <a:ext cx="12966699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231644" y="28844557"/>
            <a:ext cx="1300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l">
              <a:spcBef>
                <a:spcPts val="1200"/>
              </a:spcBef>
            </a:pPr>
            <a:r>
              <a:rPr lang="en-US" sz="2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5632" y="681823"/>
            <a:ext cx="12869333" cy="3851371"/>
          </a:xfrm>
          <a:prstGeom prst="rect">
            <a:avLst/>
          </a:prstGeom>
        </p:spPr>
      </p:pic>
      <p:sp>
        <p:nvSpPr>
          <p:cNvPr id="74" name="TextBox 29"/>
          <p:cNvSpPr txBox="1">
            <a:spLocks noChangeArrowheads="1"/>
          </p:cNvSpPr>
          <p:nvPr/>
        </p:nvSpPr>
        <p:spPr bwMode="auto">
          <a:xfrm>
            <a:off x="-725313" y="31282352"/>
            <a:ext cx="15240000" cy="1009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1pPr>
            <a:lvl2pPr marL="742950" indent="-28575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2pPr>
            <a:lvl3pPr marL="11430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3pPr>
            <a:lvl4pPr marL="16002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4pPr>
            <a:lvl5pPr marL="20574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9pPr>
          </a:lstStyle>
          <a:p>
            <a:pPr lvl="3" algn="l">
              <a:lnSpc>
                <a:spcPct val="150000"/>
              </a:lnSpc>
            </a:pPr>
            <a:r>
              <a:rPr lang="en-US" sz="4400" b="0" i="1" dirty="0">
                <a:latin typeface="Helvetica" pitchFamily="2" charset="0"/>
                <a:cs typeface="Times New Roman" pitchFamily="18" charset="0"/>
                <a:hlinkClick r:id="rId5"/>
              </a:rPr>
              <a:t>Samuel.Takwirira@unh.edu</a:t>
            </a:r>
            <a:r>
              <a:rPr lang="en-US" sz="4400" b="0" i="1" dirty="0">
                <a:latin typeface="Helvetica" pitchFamily="2" charset="0"/>
                <a:cs typeface="Times New Roman" pitchFamily="18" charset="0"/>
              </a:rPr>
              <a:t>, </a:t>
            </a:r>
            <a:r>
              <a:rPr lang="en-US" sz="4400" b="0" i="1" dirty="0">
                <a:latin typeface="Helvetica" pitchFamily="2" charset="0"/>
                <a:cs typeface="Times New Roman" pitchFamily="18" charset="0"/>
                <a:hlinkClick r:id="rId6"/>
              </a:rPr>
              <a:t>Karl.Slifer@unh.edu</a:t>
            </a:r>
            <a:endParaRPr lang="en-US" sz="4400" b="0" i="1" dirty="0">
              <a:latin typeface="Helvetica" pitchFamily="2" charset="0"/>
              <a:cs typeface="Times New Roman" pitchFamily="18" charset="0"/>
            </a:endParaRPr>
          </a:p>
        </p:txBody>
      </p:sp>
      <p:sp>
        <p:nvSpPr>
          <p:cNvPr id="36" name="Rectangle 164"/>
          <p:cNvSpPr>
            <a:spLocks noChangeArrowheads="1"/>
          </p:cNvSpPr>
          <p:nvPr/>
        </p:nvSpPr>
        <p:spPr bwMode="auto">
          <a:xfrm>
            <a:off x="30005866" y="6120429"/>
            <a:ext cx="1286933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5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2546"/>
          <p:cNvSpPr txBox="1">
            <a:spLocks noChangeArrowheads="1"/>
          </p:cNvSpPr>
          <p:nvPr/>
        </p:nvSpPr>
        <p:spPr bwMode="auto">
          <a:xfrm>
            <a:off x="680155" y="8190135"/>
            <a:ext cx="12505265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120015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571500" indent="-571500" algn="l" eaLnBrk="1" hangingPunct="1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Context: Dynamic Nuclear Polarization (DNP) is a critical technique used to significantly enhance the sensitivity of Magnetic Resonance signals.</a:t>
            </a:r>
          </a:p>
          <a:p>
            <a:pPr marL="571500" indent="-571500" algn="l" eaLnBrk="1" hangingPunct="1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Problem: While radicals are essential for polarization, the process used to create them can also inadvertently destroy them [1], [3].</a:t>
            </a:r>
          </a:p>
          <a:p>
            <a:pPr marL="571500" indent="-571500" algn="l" eaLnBrk="1" hangingPunct="1">
              <a:spcBef>
                <a:spcPts val="1200"/>
              </a:spcBef>
              <a:buFont typeface="Wingdings" pitchFamily="2" charset="2"/>
              <a:buChar char="q"/>
            </a:pP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Aim: We aim to ensure a stable dose distribution for optimized DNP enhancement.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3085" y="16687801"/>
            <a:ext cx="12733867" cy="1228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Monte Carlo Simulation (TOPAS) – To optimize radical production for DNP, we use TOPAS (Tool for Particle Simulation), a Geant4-based Monte Carlo platform [2]. 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The simulation is configured via parameter files using the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g4em-standard_opt4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physics module to provide high-precision tracking of electron trajectories, energy loss, and interactions within the defined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World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volume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Data Analysis &amp; Visualization – The simulation outputs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absorbed dose</a:t>
            </a:r>
            <a:r>
              <a:rPr lang="en-US" sz="44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in CSV format. Data is processed in MATLAB to evaluate dose distribution.</a:t>
            </a:r>
            <a:endParaRPr lang="en-US" sz="440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Depth-Dose Curves – Plotted to determine energy deposition vs. material depth.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2D Mapping – Generated using MATLAB’s </a:t>
            </a:r>
            <a:r>
              <a:rPr lang="en-US" sz="4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imagesc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function to visualize spatial dose uniformity across the target material.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05866" y="23612583"/>
            <a:ext cx="13275734" cy="8710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Radiation damage in polarized target materials, London GW, et al NIM A. 1994.</a:t>
            </a:r>
          </a:p>
          <a:p>
            <a:pPr marL="742950" indent="-742950" algn="just">
              <a:buFont typeface="+mj-lt"/>
              <a:buAutoNum type="arabicPeriod"/>
            </a:pPr>
            <a:endParaRPr lang="en-US" sz="4000" b="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TOPAS: An innovative proton therapy simulation framework, Perl J, et al. Med Phys. 2012;39(11):6818-35.</a:t>
            </a:r>
          </a:p>
          <a:p>
            <a:pPr marL="742950" indent="-742950" algn="just">
              <a:buFont typeface="+mj-lt"/>
              <a:buAutoNum type="arabicPeriod"/>
            </a:pPr>
            <a:endParaRPr lang="en-US" sz="4000" b="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Solid Polarized Targets for Nuclear and Particle Physics, Crabb DG, Meyer W, Annu. Rev. Nucl. Part. Sci. 1997. 47:67-109.</a:t>
            </a:r>
          </a:p>
          <a:p>
            <a:pPr marL="742950" indent="-742950" algn="just">
              <a:buFont typeface="+mj-lt"/>
              <a:buAutoNum type="arabicPeriod"/>
            </a:pPr>
            <a:endParaRPr lang="en-US" sz="4000" b="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0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First Use of a Longitudinally Polarized Target with CLAS12 C.D Keith, J. Brock, C. Carlin, T. Kageya, V. Lagerguist, J. Maxwell, and P. Pandey</a:t>
            </a:r>
          </a:p>
        </p:txBody>
      </p:sp>
      <p:sp>
        <p:nvSpPr>
          <p:cNvPr id="24" name="Rectangle 166"/>
          <p:cNvSpPr>
            <a:spLocks noChangeArrowheads="1"/>
          </p:cNvSpPr>
          <p:nvPr/>
        </p:nvSpPr>
        <p:spPr bwMode="auto">
          <a:xfrm>
            <a:off x="655086" y="29547281"/>
            <a:ext cx="12530665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0005866" y="8077200"/>
                <a:ext cx="13275734" cy="6781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The dose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at a depth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 (blue axis in Fig 1.01) is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algn="l"/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4400" b="1" i="1" dirty="0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sz="4400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sz="4400" b="1" i="1" dirty="0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sz="4400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sSub>
                            <m:sSubPr>
                              <m:ctrlPr>
                                <a:rPr lang="en-US" sz="4400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4400" b="1" i="1" dirty="0" smtClean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𝒎𝒂𝒙</m:t>
                              </m:r>
                            </m:sub>
                          </m:sSub>
                        </m:sup>
                        <m:e>
                          <m:r>
                            <a:rPr lang="el-GR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𝜱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</m:nary>
                      <m:r>
                        <a:rPr lang="en-US" sz="4400" b="1" i="1" dirty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4400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 dirty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4400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1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  <m:d>
                                <m:dPr>
                                  <m:ctrlPr>
                                    <a:rPr lang="en-US" sz="4400" i="1" dirty="0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400" b="1" i="1" dirty="0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𝑬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4400" b="1" i="1" dirty="0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𝝆</m:t>
                              </m:r>
                            </m:den>
                          </m:f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4400" b="1" i="1" dirty="0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𝒄𝒐𝒍</m:t>
                          </m:r>
                        </m:sub>
                      </m:sSub>
                      <m:r>
                        <a:rPr lang="en-US" sz="4400" b="1" i="1" dirty="0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𝒅𝑬</m:t>
                      </m:r>
                    </m:oMath>
                  </m:oMathPara>
                </a14:m>
                <a:endParaRPr lang="en-US" sz="4400" i="1" dirty="0">
                  <a:solidFill>
                    <a:srgbClr val="000066"/>
                  </a:solidFill>
                  <a:latin typeface="Helvetica" pitchFamily="2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sz="4400" i="1" dirty="0">
                  <a:solidFill>
                    <a:schemeClr val="tx1"/>
                  </a:solidFill>
                  <a:latin typeface="Helvetica" pitchFamily="2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685800" indent="-685800" algn="l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: Electron fluence at depth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4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and energy </a:t>
                </a:r>
                <a14:m>
                  <m:oMath xmlns:m="http://schemas.openxmlformats.org/officeDocument/2006/math"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marL="685800" indent="-685800" algn="l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4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sz="4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</m:d>
                          </m:num>
                          <m:den>
                            <m:r>
                              <a:rPr lang="en-US" sz="44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sz="44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𝑐𝑜𝑙</m:t>
                        </m:r>
                      </m:sub>
                    </m:sSub>
                    <m:r>
                      <a:rPr lang="en-US" sz="4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Mass collision stopping power (energy lost to ionization/excitation)</a:t>
                </a:r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  <a:cs typeface="Times New Roman" panose="02020603050405020304" pitchFamily="18" charset="0"/>
                </a:endParaRPr>
              </a:p>
              <a:p>
                <a:pPr marL="685800" indent="-685800" algn="l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Density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of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the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0">
                        <a:solidFill>
                          <a:schemeClr val="tx1"/>
                        </a:solidFill>
                        <a:latin typeface="Helvetica" pitchFamily="2" charset="0"/>
                      </a:rPr>
                      <m:t>medium</m:t>
                    </m:r>
                  </m:oMath>
                </a14:m>
                <a:endParaRPr lang="en-US" sz="4400" b="0" i="1" dirty="0">
                  <a:solidFill>
                    <a:schemeClr val="tx1"/>
                  </a:solidFill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5866" y="8077200"/>
                <a:ext cx="13275734" cy="6781921"/>
              </a:xfrm>
              <a:prstGeom prst="rect">
                <a:avLst/>
              </a:prstGeom>
              <a:blipFill>
                <a:blip r:embed="rId7"/>
                <a:stretch>
                  <a:fillRect l="-1624" t="-20748" r="-1051" b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06B7D413-FED3-2B39-53D7-727946C01374}"/>
              </a:ext>
            </a:extLst>
          </p:cNvPr>
          <p:cNvGrpSpPr/>
          <p:nvPr/>
        </p:nvGrpSpPr>
        <p:grpSpPr>
          <a:xfrm>
            <a:off x="14968086" y="24002031"/>
            <a:ext cx="13399027" cy="8138732"/>
            <a:chOff x="14968086" y="23963197"/>
            <a:chExt cx="13399027" cy="813873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55"/>
            <a:stretch>
              <a:fillRect/>
            </a:stretch>
          </p:blipFill>
          <p:spPr>
            <a:xfrm>
              <a:off x="14968086" y="23963197"/>
              <a:ext cx="13399027" cy="695568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022FAC-F613-04F5-DB15-894A5EAA0E84}"/>
                </a:ext>
              </a:extLst>
            </p:cNvPr>
            <p:cNvSpPr txBox="1"/>
            <p:nvPr/>
          </p:nvSpPr>
          <p:spPr>
            <a:xfrm>
              <a:off x="16629081" y="31332488"/>
              <a:ext cx="1063304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rgbClr val="00126A"/>
                  </a:solidFill>
                  <a:latin typeface="Helvetica" pitchFamily="2" charset="0"/>
                  <a:cs typeface="Times New Roman" panose="02020603050405020304" pitchFamily="18" charset="0"/>
                </a:rPr>
                <a:t>Fig. 1.03 – Details on target set up [4].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5FC25CD-5D7C-8A71-6CDC-854D8CA96884}"/>
              </a:ext>
            </a:extLst>
          </p:cNvPr>
          <p:cNvSpPr txBox="1"/>
          <p:nvPr/>
        </p:nvSpPr>
        <p:spPr>
          <a:xfrm>
            <a:off x="14540087" y="15242574"/>
            <a:ext cx="14240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126A"/>
                </a:solidFill>
                <a:latin typeface="Helvetica" pitchFamily="2" charset="0"/>
                <a:cs typeface="Times New Roman" panose="02020603050405020304" pitchFamily="18" charset="0"/>
              </a:rPr>
              <a:t>Fig. 1.01 – Recreating the lab space</a:t>
            </a:r>
          </a:p>
        </p:txBody>
      </p:sp>
      <p:sp>
        <p:nvSpPr>
          <p:cNvPr id="27" name="Rectangle 164">
            <a:extLst>
              <a:ext uri="{FF2B5EF4-FFF2-40B4-BE49-F238E27FC236}">
                <a16:creationId xmlns:a16="http://schemas.microsoft.com/office/drawing/2014/main" id="{F249AB3C-D94D-639D-EA9D-F183A3566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5866" y="14859000"/>
            <a:ext cx="1286933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5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5412B8-5D75-42F7-A1F8-E599ED048045}"/>
              </a:ext>
            </a:extLst>
          </p:cNvPr>
          <p:cNvGrpSpPr/>
          <p:nvPr/>
        </p:nvGrpSpPr>
        <p:grpSpPr>
          <a:xfrm>
            <a:off x="15057651" y="16916447"/>
            <a:ext cx="13397081" cy="6172153"/>
            <a:chOff x="15077725" y="16415702"/>
            <a:chExt cx="13397081" cy="617215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332608-990F-267B-CDE0-7FB20EFAB5BD}"/>
                </a:ext>
              </a:extLst>
            </p:cNvPr>
            <p:cNvSpPr txBox="1"/>
            <p:nvPr/>
          </p:nvSpPr>
          <p:spPr>
            <a:xfrm>
              <a:off x="17824957" y="21818414"/>
              <a:ext cx="82814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rgbClr val="00126A"/>
                  </a:solidFill>
                  <a:latin typeface="Helvetica" pitchFamily="2" charset="0"/>
                  <a:cs typeface="Times New Roman" panose="02020603050405020304" pitchFamily="18" charset="0"/>
                </a:rPr>
                <a:t>Fig. 1.02 – Simulation results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D8A1DC2-02EA-C63E-D531-2754996F3524}"/>
                </a:ext>
              </a:extLst>
            </p:cNvPr>
            <p:cNvGrpSpPr/>
            <p:nvPr/>
          </p:nvGrpSpPr>
          <p:grpSpPr>
            <a:xfrm>
              <a:off x="15077725" y="16415702"/>
              <a:ext cx="13397081" cy="5136138"/>
              <a:chOff x="14084212" y="17180882"/>
              <a:chExt cx="14135630" cy="533628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4B8554C-68EA-7A38-A6D8-19CE432DC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47642" y="17180883"/>
                <a:ext cx="6172200" cy="5336280"/>
              </a:xfrm>
              <a:prstGeom prst="rect">
                <a:avLst/>
              </a:prstGeom>
            </p:spPr>
          </p:pic>
          <p:pic>
            <p:nvPicPr>
              <p:cNvPr id="12" name="Picture 11" descr="A graph with a green line&#10;&#10;AI-generated content may be incorrect.">
                <a:extLst>
                  <a:ext uri="{FF2B5EF4-FFF2-40B4-BE49-F238E27FC236}">
                    <a16:creationId xmlns:a16="http://schemas.microsoft.com/office/drawing/2014/main" id="{1C680BC0-82EB-BD2C-9A82-8A652795E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084212" y="17180882"/>
                <a:ext cx="7979760" cy="5336279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78244D-02D0-B5C2-45DE-1751AB21519D}"/>
                  </a:ext>
                </a:extLst>
              </p:cNvPr>
              <p:cNvSpPr txBox="1"/>
              <p:nvPr/>
            </p:nvSpPr>
            <p:spPr>
              <a:xfrm>
                <a:off x="30005866" y="16916400"/>
                <a:ext cx="13255648" cy="4540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Simulating the irradiation of both sides of the cylindrical target.</a:t>
                </a: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Plotting the 2D Dose distribution to maximize dose uniformity.</a:t>
                </a: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Calculating the G-Value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𝑅𝑎𝑑𝑖𝑐𝑎𝑙𝑠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𝑒𝑉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𝐸𝑛𝑒𝑟𝑔𝑦</m:t>
                        </m:r>
                      </m:den>
                    </m:f>
                  </m:oMath>
                </a14:m>
                <a:endParaRPr lang="en-US" sz="4400" b="0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Scoring electron density (N</a:t>
                </a:r>
                <a:r>
                  <a:rPr lang="en-US" sz="4400" b="0" baseline="-25000" dirty="0">
                    <a:solidFill>
                      <a:schemeClr val="tx1"/>
                    </a:solidFill>
                    <a:latin typeface="Helvetica" pitchFamily="2" charset="0"/>
                  </a:rPr>
                  <a:t>s</a:t>
                </a: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) directly.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78244D-02D0-B5C2-45DE-1751AB215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5866" y="16916400"/>
                <a:ext cx="13255648" cy="4540154"/>
              </a:xfrm>
              <a:prstGeom prst="rect">
                <a:avLst/>
              </a:prstGeom>
              <a:blipFill>
                <a:blip r:embed="rId11"/>
                <a:stretch>
                  <a:fillRect l="-1627" t="-3073" r="-2967" b="-5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D45309C-C2BB-1EE1-7CA1-64B6FE61884C}"/>
              </a:ext>
            </a:extLst>
          </p:cNvPr>
          <p:cNvGrpSpPr/>
          <p:nvPr/>
        </p:nvGrpSpPr>
        <p:grpSpPr>
          <a:xfrm>
            <a:off x="14968086" y="8305800"/>
            <a:ext cx="13453760" cy="6538615"/>
            <a:chOff x="14968086" y="8305800"/>
            <a:chExt cx="13453760" cy="6538615"/>
          </a:xfrm>
        </p:grpSpPr>
        <p:pic>
          <p:nvPicPr>
            <p:cNvPr id="23" name="Picture 2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C2C7782-7AFA-7081-8905-90081834B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19" b="12856"/>
            <a:stretch>
              <a:fillRect/>
            </a:stretch>
          </p:blipFill>
          <p:spPr>
            <a:xfrm>
              <a:off x="14968086" y="8372032"/>
              <a:ext cx="7772400" cy="6472383"/>
            </a:xfrm>
            <a:prstGeom prst="rect">
              <a:avLst/>
            </a:prstGeom>
          </p:spPr>
        </p:pic>
        <p:pic>
          <p:nvPicPr>
            <p:cNvPr id="35" name="Picture 34" descr="A green laser beam in a rectangular box&#10;&#10;AI-generated content may be incorrect.">
              <a:extLst>
                <a:ext uri="{FF2B5EF4-FFF2-40B4-BE49-F238E27FC236}">
                  <a16:creationId xmlns:a16="http://schemas.microsoft.com/office/drawing/2014/main" id="{8DE9FA65-8EE5-B579-B08C-A5FAE876B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0" t="4357" r="27778"/>
            <a:stretch>
              <a:fillRect/>
            </a:stretch>
          </p:blipFill>
          <p:spPr>
            <a:xfrm>
              <a:off x="22707600" y="8372033"/>
              <a:ext cx="5714246" cy="6472382"/>
            </a:xfrm>
            <a:prstGeom prst="rect">
              <a:avLst/>
            </a:prstGeom>
          </p:spPr>
        </p:pic>
        <p:pic>
          <p:nvPicPr>
            <p:cNvPr id="8" name="Picture 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F048BC31-C596-0B39-2AD2-8406DC5F4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92888" y="8305800"/>
              <a:ext cx="3091312" cy="1365929"/>
            </a:xfrm>
            <a:prstGeom prst="rect">
              <a:avLst/>
            </a:prstGeom>
          </p:spPr>
        </p:pic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6935CE6D-AE98-045A-B338-B707EE31345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21123580" y="9155241"/>
              <a:ext cx="1769308" cy="2"/>
            </a:xfrm>
            <a:prstGeom prst="curvedConnector3">
              <a:avLst>
                <a:gd name="adj1" fmla="val 50000"/>
              </a:avLst>
            </a:prstGeom>
            <a:ln w="698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7000">
                    <a:schemeClr val="accent1">
                      <a:lumMod val="45000"/>
                      <a:lumOff val="55000"/>
                    </a:schemeClr>
                  </a:gs>
                  <a:gs pos="5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0"/>
                      <a:lumOff val="100000"/>
                    </a:schemeClr>
                  </a:gs>
                </a:gsLst>
                <a:lin ang="5400000" scaled="1"/>
              </a:gradFill>
              <a:headEnd type="none" w="med" len="med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61F589D-E49B-1092-1CF3-B9B2763D25FA}"/>
              </a:ext>
            </a:extLst>
          </p:cNvPr>
          <p:cNvSpPr txBox="1"/>
          <p:nvPr/>
        </p:nvSpPr>
        <p:spPr>
          <a:xfrm>
            <a:off x="21171311" y="8737066"/>
            <a:ext cx="1810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CECFF"/>
                </a:solidFill>
              </a:rPr>
              <a:t>Scene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12903</TotalTime>
  <Words>463</Words>
  <Application>Microsoft Macintosh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Cambria Math</vt:lpstr>
      <vt:lpstr>Courier New</vt:lpstr>
      <vt:lpstr>Helvetica</vt:lpstr>
      <vt:lpstr>Times New Roman</vt:lpstr>
      <vt:lpstr>Wingdings</vt:lpstr>
      <vt:lpstr>Default Design</vt:lpstr>
      <vt:lpstr>Optimizing Radical Evolution for Polarized NH_3 Targets TOPAS Geant4 – Monte Carlo Simulation  Samuel Takwirira, Mentored by Dr. Karl Slifer Nuclear Physics Group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Samuel Takwirira</cp:lastModifiedBy>
  <cp:revision>353</cp:revision>
  <cp:lastPrinted>2014-02-24T14:53:09Z</cp:lastPrinted>
  <dcterms:created xsi:type="dcterms:W3CDTF">2004-07-26T21:45:23Z</dcterms:created>
  <dcterms:modified xsi:type="dcterms:W3CDTF">2026-03-13T14:07:57Z</dcterms:modified>
  <cp:category>science research poster</cp:category>
</cp:coreProperties>
</file>